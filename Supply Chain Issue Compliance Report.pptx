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56" d="100"/>
          <a:sy n="56" d="100"/>
        </p:scale>
        <p:origin x="48" y="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ouganba, Aisha [JJCUS]" userId="0ca5406f-c75f-4f28-998c-faee16679346" providerId="ADAL" clId="{3CC03F55-128A-4B67-AD7C-5FFDDFC0538E}"/>
    <pc:docChg chg="custSel modSld">
      <pc:chgData name="Abouganba, Aisha [JJCUS]" userId="0ca5406f-c75f-4f28-998c-faee16679346" providerId="ADAL" clId="{3CC03F55-128A-4B67-AD7C-5FFDDFC0538E}" dt="2026-07-08T15:25:00.672" v="0" actId="26606"/>
      <pc:docMkLst>
        <pc:docMk/>
      </pc:docMkLst>
      <pc:sldChg chg="modSp mod">
        <pc:chgData name="Abouganba, Aisha [JJCUS]" userId="0ca5406f-c75f-4f28-998c-faee16679346" providerId="ADAL" clId="{3CC03F55-128A-4B67-AD7C-5FFDDFC0538E}" dt="2026-07-08T15:25:00.672" v="0" actId="26606"/>
        <pc:sldMkLst>
          <pc:docMk/>
          <pc:sldMk cId="0" sldId="257"/>
        </pc:sldMkLst>
        <pc:spChg chg="mod">
          <ac:chgData name="Abouganba, Aisha [JJCUS]" userId="0ca5406f-c75f-4f28-998c-faee16679346" providerId="ADAL" clId="{3CC03F55-128A-4B67-AD7C-5FFDDFC0538E}" dt="2026-07-08T15:25:00.672" v="0" actId="26606"/>
          <ac:spMkLst>
            <pc:docMk/>
            <pc:sldMk cId="0" sldId="257"/>
            <ac:spMk id="5" creationId="{00000000-0000-0000-0000-000000000000}"/>
          </ac:spMkLst>
        </pc:spChg>
      </pc:sldChg>
      <pc:sldChg chg="modSp mod">
        <pc:chgData name="Abouganba, Aisha [JJCUS]" userId="0ca5406f-c75f-4f28-998c-faee16679346" providerId="ADAL" clId="{3CC03F55-128A-4B67-AD7C-5FFDDFC0538E}" dt="2026-07-08T15:25:00.672" v="0" actId="26606"/>
        <pc:sldMkLst>
          <pc:docMk/>
          <pc:sldMk cId="0" sldId="258"/>
        </pc:sldMkLst>
        <pc:spChg chg="mod">
          <ac:chgData name="Abouganba, Aisha [JJCUS]" userId="0ca5406f-c75f-4f28-998c-faee16679346" providerId="ADAL" clId="{3CC03F55-128A-4B67-AD7C-5FFDDFC0538E}" dt="2026-07-08T15:25:00.672" v="0" actId="26606"/>
          <ac:spMkLst>
            <pc:docMk/>
            <pc:sldMk cId="0" sldId="258"/>
            <ac:spMk id="5" creationId="{00000000-0000-0000-0000-000000000000}"/>
          </ac:spMkLst>
        </pc:spChg>
      </pc:sldChg>
      <pc:sldChg chg="modSp mod">
        <pc:chgData name="Abouganba, Aisha [JJCUS]" userId="0ca5406f-c75f-4f28-998c-faee16679346" providerId="ADAL" clId="{3CC03F55-128A-4B67-AD7C-5FFDDFC0538E}" dt="2026-07-08T15:25:00.672" v="0" actId="26606"/>
        <pc:sldMkLst>
          <pc:docMk/>
          <pc:sldMk cId="0" sldId="259"/>
        </pc:sldMkLst>
        <pc:spChg chg="mod">
          <ac:chgData name="Abouganba, Aisha [JJCUS]" userId="0ca5406f-c75f-4f28-998c-faee16679346" providerId="ADAL" clId="{3CC03F55-128A-4B67-AD7C-5FFDDFC0538E}" dt="2026-07-08T15:25:00.672" v="0" actId="26606"/>
          <ac:spMkLst>
            <pc:docMk/>
            <pc:sldMk cId="0" sldId="259"/>
            <ac:spMk id="5" creationId="{00000000-0000-0000-0000-000000000000}"/>
          </ac:spMkLst>
        </pc:spChg>
      </pc:sldChg>
      <pc:sldChg chg="modSp mod">
        <pc:chgData name="Abouganba, Aisha [JJCUS]" userId="0ca5406f-c75f-4f28-998c-faee16679346" providerId="ADAL" clId="{3CC03F55-128A-4B67-AD7C-5FFDDFC0538E}" dt="2026-07-08T15:25:00.672" v="0" actId="26606"/>
        <pc:sldMkLst>
          <pc:docMk/>
          <pc:sldMk cId="0" sldId="260"/>
        </pc:sldMkLst>
        <pc:spChg chg="mod">
          <ac:chgData name="Abouganba, Aisha [JJCUS]" userId="0ca5406f-c75f-4f28-998c-faee16679346" providerId="ADAL" clId="{3CC03F55-128A-4B67-AD7C-5FFDDFC0538E}" dt="2026-07-08T15:25:00.672" v="0" actId="26606"/>
          <ac:spMkLst>
            <pc:docMk/>
            <pc:sldMk cId="0" sldId="260"/>
            <ac:spMk id="5" creationId="{00000000-0000-0000-0000-000000000000}"/>
          </ac:spMkLst>
        </pc:spChg>
      </pc:sldChg>
      <pc:sldChg chg="modSp mod">
        <pc:chgData name="Abouganba, Aisha [JJCUS]" userId="0ca5406f-c75f-4f28-998c-faee16679346" providerId="ADAL" clId="{3CC03F55-128A-4B67-AD7C-5FFDDFC0538E}" dt="2026-07-08T15:25:00.672" v="0" actId="26606"/>
        <pc:sldMkLst>
          <pc:docMk/>
          <pc:sldMk cId="0" sldId="261"/>
        </pc:sldMkLst>
        <pc:spChg chg="mod">
          <ac:chgData name="Abouganba, Aisha [JJCUS]" userId="0ca5406f-c75f-4f28-998c-faee16679346" providerId="ADAL" clId="{3CC03F55-128A-4B67-AD7C-5FFDDFC0538E}" dt="2026-07-08T15:25:00.672" v="0" actId="26606"/>
          <ac:spMkLst>
            <pc:docMk/>
            <pc:sldMk cId="0" sldId="261"/>
            <ac:spMk id="5" creationId="{00000000-0000-0000-0000-000000000000}"/>
          </ac:spMkLst>
        </pc:spChg>
      </pc:sldChg>
      <pc:sldChg chg="modSp mod">
        <pc:chgData name="Abouganba, Aisha [JJCUS]" userId="0ca5406f-c75f-4f28-998c-faee16679346" providerId="ADAL" clId="{3CC03F55-128A-4B67-AD7C-5FFDDFC0538E}" dt="2026-07-08T15:25:00.672" v="0" actId="26606"/>
        <pc:sldMkLst>
          <pc:docMk/>
          <pc:sldMk cId="0" sldId="262"/>
        </pc:sldMkLst>
        <pc:spChg chg="mod">
          <ac:chgData name="Abouganba, Aisha [JJCUS]" userId="0ca5406f-c75f-4f28-998c-faee16679346" providerId="ADAL" clId="{3CC03F55-128A-4B67-AD7C-5FFDDFC0538E}" dt="2026-07-08T15:25:00.672" v="0" actId="26606"/>
          <ac:spMkLst>
            <pc:docMk/>
            <pc:sldMk cId="0" sldId="262"/>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Avg Delivery (Days)</c:v>
                </c:pt>
              </c:strCache>
            </c:strRef>
          </c:tx>
          <c:spPr>
            <a:solidFill>
              <a:srgbClr val="B23A3A"/>
            </a:solidFill>
            <a:effectLst/>
          </c:spPr>
          <c:invertIfNegative val="0"/>
          <c:dPt>
            <c:idx val="0"/>
            <c:invertIfNegative val="0"/>
            <c:bubble3D val="0"/>
            <c:extLst>
              <c:ext xmlns:c16="http://schemas.microsoft.com/office/drawing/2014/chart" uri="{C3380CC4-5D6E-409C-BE32-E72D297353CC}">
                <c16:uniqueId val="{00000001-2EE4-4894-87CD-00CF03D5395D}"/>
              </c:ext>
            </c:extLst>
          </c:dPt>
          <c:dPt>
            <c:idx val="1"/>
            <c:invertIfNegative val="0"/>
            <c:bubble3D val="0"/>
            <c:spPr>
              <a:solidFill>
                <a:srgbClr val="5A6E88"/>
              </a:solidFill>
              <a:effectLst/>
            </c:spPr>
            <c:extLst>
              <c:ext xmlns:c16="http://schemas.microsoft.com/office/drawing/2014/chart" uri="{C3380CC4-5D6E-409C-BE32-E72D297353CC}">
                <c16:uniqueId val="{00000003-2EE4-4894-87CD-00CF03D5395D}"/>
              </c:ext>
            </c:extLst>
          </c:dPt>
          <c:dPt>
            <c:idx val="2"/>
            <c:invertIfNegative val="0"/>
            <c:bubble3D val="0"/>
            <c:spPr>
              <a:solidFill>
                <a:srgbClr val="5A6E88"/>
              </a:solidFill>
              <a:effectLst/>
            </c:spPr>
            <c:extLst>
              <c:ext xmlns:c16="http://schemas.microsoft.com/office/drawing/2014/chart" uri="{C3380CC4-5D6E-409C-BE32-E72D297353CC}">
                <c16:uniqueId val="{00000005-2EE4-4894-87CD-00CF03D5395D}"/>
              </c:ext>
            </c:extLst>
          </c:dPt>
          <c:dPt>
            <c:idx val="3"/>
            <c:invertIfNegative val="0"/>
            <c:bubble3D val="0"/>
            <c:spPr>
              <a:solidFill>
                <a:srgbClr val="2E7D5B"/>
              </a:solidFill>
              <a:effectLst/>
            </c:spPr>
            <c:extLst>
              <c:ext xmlns:c16="http://schemas.microsoft.com/office/drawing/2014/chart" uri="{C3380CC4-5D6E-409C-BE32-E72D297353CC}">
                <c16:uniqueId val="{00000007-2EE4-4894-87CD-00CF03D5395D}"/>
              </c:ext>
            </c:extLst>
          </c:dPt>
          <c:dLbls>
            <c:numFmt formatCode="0.0" sourceLinked="0"/>
            <c:spPr>
              <a:noFill/>
              <a:ln>
                <a:noFill/>
              </a:ln>
              <a:effectLst/>
            </c:spPr>
            <c:txPr>
              <a:bodyPr/>
              <a:lstStyle/>
              <a:p>
                <a:pPr>
                  <a:defRPr sz="1100" b="1" i="0" u="none" strike="noStrike">
                    <a:solidFill>
                      <a:srgbClr val="1B23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BIND567</c:v>
                </c:pt>
                <c:pt idx="1">
                  <c:v>CARB123</c:v>
                </c:pt>
                <c:pt idx="2">
                  <c:v>COAT890</c:v>
                </c:pt>
                <c:pt idx="3">
                  <c:v>Overall avg</c:v>
                </c:pt>
              </c:strCache>
            </c:strRef>
          </c:cat>
          <c:val>
            <c:numRef>
              <c:f>Sheet1!$B$2:$B$5</c:f>
              <c:numCache>
                <c:formatCode>General</c:formatCode>
                <c:ptCount val="4"/>
                <c:pt idx="0">
                  <c:v>64</c:v>
                </c:pt>
                <c:pt idx="1">
                  <c:v>23.3</c:v>
                </c:pt>
                <c:pt idx="2">
                  <c:v>21.2</c:v>
                </c:pt>
                <c:pt idx="3">
                  <c:v>13.5</c:v>
                </c:pt>
              </c:numCache>
            </c:numRef>
          </c:val>
          <c:extLst>
            <c:ext xmlns:c16="http://schemas.microsoft.com/office/drawing/2014/chart" uri="{C3380CC4-5D6E-409C-BE32-E72D297353CC}">
              <c16:uniqueId val="{00000008-2EE4-4894-87CD-00CF03D5395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1" i="0" u="none" strike="noStrike">
                <a:solidFill>
                  <a:srgbClr val="1B2333"/>
                </a:solidFill>
                <a:latin typeface="Calibri"/>
              </a:defRPr>
            </a:pPr>
            <a:endParaRPr lang="en-US"/>
          </a:p>
        </c:txPr>
        <c:crossAx val="2094734552"/>
        <c:crosses val="autoZero"/>
        <c:auto val="1"/>
        <c:lblAlgn val="ctr"/>
        <c:lblOffset val="100"/>
        <c:noMultiLvlLbl val="1"/>
      </c:catAx>
      <c:valAx>
        <c:axId val="2094734552"/>
        <c:scaling>
          <c:orientation val="minMax"/>
          <c:max val="72"/>
          <c:min val="0"/>
        </c:scaling>
        <c:delete val="1"/>
        <c:axPos val="b"/>
        <c:numFmt formatCode="General" sourceLinked="0"/>
        <c:majorTickMark val="out"/>
        <c:minorTickMark val="none"/>
        <c:tickLblPos val="low"/>
        <c:crossAx val="2094734554"/>
        <c:crosses val="autoZero"/>
        <c:crossBetween val="between"/>
      </c:valAx>
      <c:spPr>
        <a:solidFill>
          <a:srgbClr val="F2F5F9"/>
        </a:solidFill>
        <a:ln>
          <a:noFill/>
        </a:ln>
        <a:effectLst/>
      </c:spPr>
    </c:plotArea>
    <c:plotVisOnly val="1"/>
    <c:dispBlanksAs val="span"/>
    <c:showDLblsOverMax val="1"/>
  </c:chart>
  <c:spPr>
    <a:solidFill>
      <a:srgbClr val="F2F5F9"/>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report translates the supply chain issue analysis into a compliance-focused briefing for both operations and compliance stakeholders. It covers 50 component records across five suppliers. Three headline numbers anchor the discussion: 50 records reviewed, five active suppliers, and an overall average delivery timeline of about 13.5 days. The goal today is to identify where delivery, quality, and supplier reliability gaps create compliance exposure, and to agree on the mitigation and next steps outlined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takeaway is that risk is concentrated, not spread evenly. A handful of delayed components — CARB123, BIND567, and COAT890 — average 36.2 days to deliver, nearly three times the 13.5-day overall average. On the supplier side, EcoSupply has the weakest on-time delivery at 87.9%, and PrimeLogistics carries the highest defect rate at 2.89% with the lowest quality pass rate at 92.4%. Note that medium-risk components actually show the longest average timeline at 15.1 days across 24 records, which tells us risk classification reflects more than lead time alone. Emphasize that these gaps translate directly into compliance exposure, which the following slides unpack.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components account for the bulk of the delivery exposure. BIND567 is the clearest outlier at 64 days — a single record, but far beyond the 13.5-day average, so it warrants an exception review even though its on-time and reliability numbers are strong. CARB123 shows repeated variability across four records with mixed risk levels. COAT890 is the on-time weak spot at 84.2% across five records tied to multiple suppliers. The chart contrasts each against the overall average so the audience sees the magnitude of the gap. Collectively these delayed components average 36.2 days, and they should be prioritized for criticality mapping against production and compliance impact.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supplier scorecard. All five suppliers cluster fairly tightly, but two stand out for the wrong reasons. EcoSupply has the lowest on-time delivery at 87.9%, flagged in red. PrimeLogistics carries the highest defect rate at 2.89% and the lowest quality pass rate at 92.4%, both flagged. Reliability ranges from 91.4% at PrimeLogistics to 93.2% at EcoSupply, and NextGen Pharma has the shortest average delivery at 10.7 days. The recommended action is supplier-level deep dives with corrective actions tied to measurable service-level targets, focused first on the two suppliers to watch.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reframes the operational findings as compliance risk, which is the lens leadership and regulators care about. There are four exposure areas. Production continuity: delays and backorders threaten planned schedules and push teams toward expedited, exception-based decisions. Quality system: higher defect rates and lower pass rates drive rework, rejection, and deviation management. Supplier control: weaker suppliers need added monitoring, contract review, and corrective actions. Documentation and planning: forecast and reorder inconsistencies undermine the integrity of supply records. In regulated environments, repeated delays and quality variability raise the risk of missed commitments, incomplete traceability, and deviation events.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Mitigation splits into two tracks. On the left, six general strategies apply across the supply base: stronger supplier reviews with measurable targets, better inventory governance, expanded alternate sourcing, selective use of expedited shipping, tighter forecast monitoring, and a single risk-based component dashboard. On the right, component-specific actions target the three delayed components. CARB123 needs a standardized mitigation path and a determination of whether variability is supplier- or planning-driven. BIND567 needs a root-cause investigation of its 64-day timeline plus an exception-review trigger. COAT890 needs alternate sourcing, supplier segmentation, and buffer stock where criticality is high. These map directly to the concerns raised in the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action plan we are asking for alignment on. First, map component criticality so we know how much CARB123, BIND567, and COAT890 actually matter to production and compliance. Second, run supplier-level deep dives across all five suppliers using on-time, reliability, defect, and quality trends. Third, refresh reorder-point and safety-stock assumptions for high-usage, high-backorder, or high-variance components. Fourth, define escalation triggers for timeline outliers, quality declines, and recurring backorders. Fifth, stand up a monthly supply-risk review to confirm the mitigation actions are actually reducing delays, quality issues, and compliance exposure. The monthly cadence is what turns this from a one-time analysis into ongoing governance.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8107137"/>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B"/>
        </a:solidFill>
        <a:effectLst/>
      </p:bgPr>
    </p:bg>
    <p:spTree>
      <p:nvGrpSpPr>
        <p:cNvPr id="1" name=""/>
        <p:cNvGrpSpPr/>
        <p:nvPr/>
      </p:nvGrpSpPr>
      <p:grpSpPr>
        <a:xfrm>
          <a:off x="0" y="0"/>
          <a:ext cx="0" cy="0"/>
          <a:chOff x="0" y="0"/>
          <a:chExt cx="0" cy="0"/>
        </a:xfrm>
      </p:grpSpPr>
      <p:sp>
        <p:nvSpPr>
          <p:cNvPr id="2" name="Shape 0"/>
          <p:cNvSpPr/>
          <p:nvPr/>
        </p:nvSpPr>
        <p:spPr>
          <a:xfrm>
            <a:off x="0" y="0"/>
            <a:ext cx="292608" cy="6858000"/>
          </a:xfrm>
          <a:prstGeom prst="rect">
            <a:avLst/>
          </a:prstGeom>
          <a:solidFill>
            <a:srgbClr val="3C4E6B"/>
          </a:solidFill>
          <a:ln/>
        </p:spPr>
        <p:txBody>
          <a:bodyPr/>
          <a:lstStyle/>
          <a:p>
            <a:endParaRPr lang="en-US"/>
          </a:p>
        </p:txBody>
      </p:sp>
      <p:sp>
        <p:nvSpPr>
          <p:cNvPr id="3" name="Shape 1"/>
          <p:cNvSpPr/>
          <p:nvPr/>
        </p:nvSpPr>
        <p:spPr>
          <a:xfrm>
            <a:off x="292608" y="0"/>
            <a:ext cx="73152" cy="6858000"/>
          </a:xfrm>
          <a:prstGeom prst="rect">
            <a:avLst/>
          </a:prstGeom>
          <a:solidFill>
            <a:srgbClr val="5A6E88"/>
          </a:solidFill>
          <a:ln/>
        </p:spPr>
        <p:txBody>
          <a:bodyPr/>
          <a:lstStyle/>
          <a:p>
            <a:endParaRPr lang="en-US"/>
          </a:p>
        </p:txBody>
      </p:sp>
      <p:sp>
        <p:nvSpPr>
          <p:cNvPr id="4" name="Text 2"/>
          <p:cNvSpPr/>
          <p:nvPr/>
        </p:nvSpPr>
        <p:spPr>
          <a:xfrm>
            <a:off x="914400" y="1371600"/>
            <a:ext cx="9144000" cy="365760"/>
          </a:xfrm>
          <a:prstGeom prst="rect">
            <a:avLst/>
          </a:prstGeom>
          <a:noFill/>
          <a:ln/>
        </p:spPr>
        <p:txBody>
          <a:bodyPr wrap="square" rtlCol="0" anchor="ctr"/>
          <a:lstStyle/>
          <a:p>
            <a:pPr marL="0" indent="0">
              <a:buNone/>
            </a:pPr>
            <a:r>
              <a:rPr lang="en-US" sz="1300" b="1" kern="0" spc="400" dirty="0">
                <a:solidFill>
                  <a:srgbClr val="C9D6E8"/>
                </a:solidFill>
                <a:latin typeface="Calibri" pitchFamily="34" charset="0"/>
                <a:ea typeface="Calibri" pitchFamily="34" charset="-122"/>
                <a:cs typeface="Calibri" pitchFamily="34" charset="-120"/>
              </a:rPr>
              <a:t>COMPLIANCE &amp; SUPPLY CHAIN REVIEW</a:t>
            </a:r>
            <a:endParaRPr lang="en-US" sz="1300" dirty="0"/>
          </a:p>
        </p:txBody>
      </p:sp>
      <p:sp>
        <p:nvSpPr>
          <p:cNvPr id="5" name="Text 3"/>
          <p:cNvSpPr/>
          <p:nvPr/>
        </p:nvSpPr>
        <p:spPr>
          <a:xfrm>
            <a:off x="868680" y="1874520"/>
            <a:ext cx="10424160" cy="1828800"/>
          </a:xfrm>
          <a:prstGeom prst="rect">
            <a:avLst/>
          </a:prstGeom>
          <a:noFill/>
          <a:ln/>
        </p:spPr>
        <p:txBody>
          <a:bodyPr wrap="square" rtlCol="0" anchor="ctr"/>
          <a:lstStyle/>
          <a:p>
            <a:pPr marL="0" indent="0">
              <a:lnSpc>
                <a:spcPts val="5200"/>
              </a:lnSpc>
              <a:buNone/>
            </a:pPr>
            <a:r>
              <a:rPr lang="en-US" sz="4800" b="1" dirty="0">
                <a:solidFill>
                  <a:srgbClr val="FFFFFF"/>
                </a:solidFill>
                <a:latin typeface="Cambria" pitchFamily="34" charset="0"/>
                <a:ea typeface="Cambria" pitchFamily="34" charset="-122"/>
                <a:cs typeface="Cambria" pitchFamily="34" charset="-120"/>
              </a:rPr>
              <a:t>Supply Chain Issue</a:t>
            </a:r>
            <a:endParaRPr lang="en-US" sz="4800" dirty="0"/>
          </a:p>
          <a:p>
            <a:pPr marL="0" indent="0">
              <a:lnSpc>
                <a:spcPts val="5200"/>
              </a:lnSpc>
              <a:buNone/>
            </a:pPr>
            <a:r>
              <a:rPr lang="en-US" sz="4800" b="1" dirty="0">
                <a:solidFill>
                  <a:srgbClr val="FFFFFF"/>
                </a:solidFill>
                <a:latin typeface="Cambria" pitchFamily="34" charset="0"/>
                <a:ea typeface="Cambria" pitchFamily="34" charset="-122"/>
                <a:cs typeface="Cambria" pitchFamily="34" charset="-120"/>
              </a:rPr>
              <a:t>Compliance Report</a:t>
            </a:r>
            <a:endParaRPr lang="en-US" sz="4800" dirty="0"/>
          </a:p>
        </p:txBody>
      </p:sp>
      <p:sp>
        <p:nvSpPr>
          <p:cNvPr id="6" name="Text 4"/>
          <p:cNvSpPr/>
          <p:nvPr/>
        </p:nvSpPr>
        <p:spPr>
          <a:xfrm>
            <a:off x="914400" y="3794760"/>
            <a:ext cx="9692640" cy="640080"/>
          </a:xfrm>
          <a:prstGeom prst="rect">
            <a:avLst/>
          </a:prstGeom>
          <a:noFill/>
          <a:ln/>
        </p:spPr>
        <p:txBody>
          <a:bodyPr wrap="square" rtlCol="0" anchor="ctr"/>
          <a:lstStyle/>
          <a:p>
            <a:pPr marL="0" indent="0">
              <a:buNone/>
            </a:pPr>
            <a:r>
              <a:rPr lang="en-US" sz="1600" dirty="0">
                <a:solidFill>
                  <a:srgbClr val="C9D6E8"/>
                </a:solidFill>
                <a:latin typeface="Calibri" pitchFamily="34" charset="0"/>
                <a:ea typeface="Calibri" pitchFamily="34" charset="-122"/>
                <a:cs typeface="Calibri" pitchFamily="34" charset="-120"/>
              </a:rPr>
              <a:t>Findings, compliance exposure, and mitigation across 50 component records and five suppliers.</a:t>
            </a:r>
            <a:endParaRPr lang="en-US" sz="1600" dirty="0"/>
          </a:p>
        </p:txBody>
      </p:sp>
      <p:sp>
        <p:nvSpPr>
          <p:cNvPr id="7" name="Shape 5"/>
          <p:cNvSpPr/>
          <p:nvPr/>
        </p:nvSpPr>
        <p:spPr>
          <a:xfrm>
            <a:off x="914400" y="4892040"/>
            <a:ext cx="2926080" cy="914400"/>
          </a:xfrm>
          <a:prstGeom prst="rect">
            <a:avLst/>
          </a:prstGeom>
          <a:solidFill>
            <a:srgbClr val="1E2E4A"/>
          </a:solidFill>
          <a:ln w="12700">
            <a:solidFill>
              <a:srgbClr val="3C4E6B"/>
            </a:solidFill>
            <a:prstDash val="solid"/>
          </a:ln>
        </p:spPr>
        <p:txBody>
          <a:bodyPr/>
          <a:lstStyle/>
          <a:p>
            <a:endParaRPr lang="en-US"/>
          </a:p>
        </p:txBody>
      </p:sp>
      <p:sp>
        <p:nvSpPr>
          <p:cNvPr id="8" name="Shape 6"/>
          <p:cNvSpPr/>
          <p:nvPr/>
        </p:nvSpPr>
        <p:spPr>
          <a:xfrm>
            <a:off x="914400" y="4892040"/>
            <a:ext cx="82296" cy="914400"/>
          </a:xfrm>
          <a:prstGeom prst="rect">
            <a:avLst/>
          </a:prstGeom>
          <a:solidFill>
            <a:srgbClr val="5A6E88"/>
          </a:solidFill>
          <a:ln/>
        </p:spPr>
        <p:txBody>
          <a:bodyPr/>
          <a:lstStyle/>
          <a:p>
            <a:endParaRPr lang="en-US"/>
          </a:p>
        </p:txBody>
      </p:sp>
      <p:sp>
        <p:nvSpPr>
          <p:cNvPr id="9" name="Text 7"/>
          <p:cNvSpPr/>
          <p:nvPr/>
        </p:nvSpPr>
        <p:spPr>
          <a:xfrm>
            <a:off x="1143000" y="5029200"/>
            <a:ext cx="2560320" cy="45720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50</a:t>
            </a:r>
            <a:endParaRPr lang="en-US" sz="2400" dirty="0"/>
          </a:p>
        </p:txBody>
      </p:sp>
      <p:sp>
        <p:nvSpPr>
          <p:cNvPr id="10" name="Text 8"/>
          <p:cNvSpPr/>
          <p:nvPr/>
        </p:nvSpPr>
        <p:spPr>
          <a:xfrm>
            <a:off x="1161288" y="5486400"/>
            <a:ext cx="2560320" cy="274320"/>
          </a:xfrm>
          <a:prstGeom prst="rect">
            <a:avLst/>
          </a:prstGeom>
          <a:noFill/>
          <a:ln/>
        </p:spPr>
        <p:txBody>
          <a:bodyPr wrap="square" rtlCol="0" anchor="ctr"/>
          <a:lstStyle/>
          <a:p>
            <a:pPr marL="0" indent="0">
              <a:buNone/>
            </a:pPr>
            <a:r>
              <a:rPr lang="en-US" sz="950" kern="0" spc="150" dirty="0">
                <a:solidFill>
                  <a:srgbClr val="C9D6E8"/>
                </a:solidFill>
                <a:latin typeface="Calibri" pitchFamily="34" charset="0"/>
                <a:ea typeface="Calibri" pitchFamily="34" charset="-122"/>
                <a:cs typeface="Calibri" pitchFamily="34" charset="-120"/>
              </a:rPr>
              <a:t>RECORDS ANALYZED</a:t>
            </a:r>
            <a:endParaRPr lang="en-US" sz="950" dirty="0"/>
          </a:p>
        </p:txBody>
      </p:sp>
      <p:sp>
        <p:nvSpPr>
          <p:cNvPr id="11" name="Shape 9"/>
          <p:cNvSpPr/>
          <p:nvPr/>
        </p:nvSpPr>
        <p:spPr>
          <a:xfrm>
            <a:off x="4160520" y="4892040"/>
            <a:ext cx="2926080" cy="914400"/>
          </a:xfrm>
          <a:prstGeom prst="rect">
            <a:avLst/>
          </a:prstGeom>
          <a:solidFill>
            <a:srgbClr val="1E2E4A"/>
          </a:solidFill>
          <a:ln w="12700">
            <a:solidFill>
              <a:srgbClr val="3C4E6B"/>
            </a:solidFill>
            <a:prstDash val="solid"/>
          </a:ln>
        </p:spPr>
        <p:txBody>
          <a:bodyPr/>
          <a:lstStyle/>
          <a:p>
            <a:endParaRPr lang="en-US"/>
          </a:p>
        </p:txBody>
      </p:sp>
      <p:sp>
        <p:nvSpPr>
          <p:cNvPr id="12" name="Shape 10"/>
          <p:cNvSpPr/>
          <p:nvPr/>
        </p:nvSpPr>
        <p:spPr>
          <a:xfrm>
            <a:off x="4160520" y="4892040"/>
            <a:ext cx="82296" cy="914400"/>
          </a:xfrm>
          <a:prstGeom prst="rect">
            <a:avLst/>
          </a:prstGeom>
          <a:solidFill>
            <a:srgbClr val="5A6E88"/>
          </a:solidFill>
          <a:ln/>
        </p:spPr>
        <p:txBody>
          <a:bodyPr/>
          <a:lstStyle/>
          <a:p>
            <a:endParaRPr lang="en-US"/>
          </a:p>
        </p:txBody>
      </p:sp>
      <p:sp>
        <p:nvSpPr>
          <p:cNvPr id="13" name="Text 11"/>
          <p:cNvSpPr/>
          <p:nvPr/>
        </p:nvSpPr>
        <p:spPr>
          <a:xfrm>
            <a:off x="4389120" y="5029200"/>
            <a:ext cx="2560320" cy="45720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14" name="Text 12"/>
          <p:cNvSpPr/>
          <p:nvPr/>
        </p:nvSpPr>
        <p:spPr>
          <a:xfrm>
            <a:off x="4407408" y="5486400"/>
            <a:ext cx="2560320" cy="274320"/>
          </a:xfrm>
          <a:prstGeom prst="rect">
            <a:avLst/>
          </a:prstGeom>
          <a:noFill/>
          <a:ln/>
        </p:spPr>
        <p:txBody>
          <a:bodyPr wrap="square" rtlCol="0" anchor="ctr"/>
          <a:lstStyle/>
          <a:p>
            <a:pPr marL="0" indent="0">
              <a:buNone/>
            </a:pPr>
            <a:r>
              <a:rPr lang="en-US" sz="950" kern="0" spc="150" dirty="0">
                <a:solidFill>
                  <a:srgbClr val="C9D6E8"/>
                </a:solidFill>
                <a:latin typeface="Calibri" pitchFamily="34" charset="0"/>
                <a:ea typeface="Calibri" pitchFamily="34" charset="-122"/>
                <a:cs typeface="Calibri" pitchFamily="34" charset="-120"/>
              </a:rPr>
              <a:t>SUPPLIERS</a:t>
            </a:r>
            <a:endParaRPr lang="en-US" sz="950" dirty="0"/>
          </a:p>
        </p:txBody>
      </p:sp>
      <p:sp>
        <p:nvSpPr>
          <p:cNvPr id="15" name="Shape 13"/>
          <p:cNvSpPr/>
          <p:nvPr/>
        </p:nvSpPr>
        <p:spPr>
          <a:xfrm>
            <a:off x="7406640" y="4892040"/>
            <a:ext cx="2926080" cy="914400"/>
          </a:xfrm>
          <a:prstGeom prst="rect">
            <a:avLst/>
          </a:prstGeom>
          <a:solidFill>
            <a:srgbClr val="1E2E4A"/>
          </a:solidFill>
          <a:ln w="12700">
            <a:solidFill>
              <a:srgbClr val="3C4E6B"/>
            </a:solidFill>
            <a:prstDash val="solid"/>
          </a:ln>
        </p:spPr>
        <p:txBody>
          <a:bodyPr/>
          <a:lstStyle/>
          <a:p>
            <a:endParaRPr lang="en-US"/>
          </a:p>
        </p:txBody>
      </p:sp>
      <p:sp>
        <p:nvSpPr>
          <p:cNvPr id="16" name="Shape 14"/>
          <p:cNvSpPr/>
          <p:nvPr/>
        </p:nvSpPr>
        <p:spPr>
          <a:xfrm>
            <a:off x="7406640" y="4892040"/>
            <a:ext cx="82296" cy="914400"/>
          </a:xfrm>
          <a:prstGeom prst="rect">
            <a:avLst/>
          </a:prstGeom>
          <a:solidFill>
            <a:srgbClr val="5A6E88"/>
          </a:solidFill>
          <a:ln/>
        </p:spPr>
        <p:txBody>
          <a:bodyPr/>
          <a:lstStyle/>
          <a:p>
            <a:endParaRPr lang="en-US"/>
          </a:p>
        </p:txBody>
      </p:sp>
      <p:sp>
        <p:nvSpPr>
          <p:cNvPr id="17" name="Text 15"/>
          <p:cNvSpPr/>
          <p:nvPr/>
        </p:nvSpPr>
        <p:spPr>
          <a:xfrm>
            <a:off x="7635240" y="5029200"/>
            <a:ext cx="2560320" cy="45720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13.5 days</a:t>
            </a:r>
            <a:endParaRPr lang="en-US" sz="2400" dirty="0"/>
          </a:p>
        </p:txBody>
      </p:sp>
      <p:sp>
        <p:nvSpPr>
          <p:cNvPr id="18" name="Text 16"/>
          <p:cNvSpPr/>
          <p:nvPr/>
        </p:nvSpPr>
        <p:spPr>
          <a:xfrm>
            <a:off x="7653528" y="5486400"/>
            <a:ext cx="2560320" cy="274320"/>
          </a:xfrm>
          <a:prstGeom prst="rect">
            <a:avLst/>
          </a:prstGeom>
          <a:noFill/>
          <a:ln/>
        </p:spPr>
        <p:txBody>
          <a:bodyPr wrap="square" rtlCol="0" anchor="ctr"/>
          <a:lstStyle/>
          <a:p>
            <a:pPr marL="0" indent="0">
              <a:buNone/>
            </a:pPr>
            <a:r>
              <a:rPr lang="en-US" sz="950" kern="0" spc="150" dirty="0">
                <a:solidFill>
                  <a:srgbClr val="C9D6E8"/>
                </a:solidFill>
                <a:latin typeface="Calibri" pitchFamily="34" charset="0"/>
                <a:ea typeface="Calibri" pitchFamily="34" charset="-122"/>
                <a:cs typeface="Calibri" pitchFamily="34" charset="-120"/>
              </a:rPr>
              <a:t>AVG DELIVERY</a:t>
            </a:r>
            <a:endParaRPr lang="en-US" sz="950" dirty="0"/>
          </a:p>
        </p:txBody>
      </p:sp>
      <p:sp>
        <p:nvSpPr>
          <p:cNvPr id="19" name="Text 17"/>
          <p:cNvSpPr/>
          <p:nvPr/>
        </p:nvSpPr>
        <p:spPr>
          <a:xfrm>
            <a:off x="914400" y="6172200"/>
            <a:ext cx="10058400" cy="274320"/>
          </a:xfrm>
          <a:prstGeom prst="rect">
            <a:avLst/>
          </a:prstGeom>
          <a:noFill/>
          <a:ln/>
        </p:spPr>
        <p:txBody>
          <a:bodyPr wrap="square" rtlCol="0" anchor="ctr"/>
          <a:lstStyle/>
          <a:p>
            <a:pPr marL="0" indent="0">
              <a:buNone/>
            </a:pPr>
            <a:r>
              <a:rPr lang="en-US" sz="1100" dirty="0">
                <a:solidFill>
                  <a:srgbClr val="5A6E88"/>
                </a:solidFill>
                <a:latin typeface="Calibri" pitchFamily="34" charset="0"/>
                <a:ea typeface="Calibri" pitchFamily="34" charset="-122"/>
                <a:cs typeface="Calibri" pitchFamily="34" charset="-120"/>
              </a:rPr>
              <a:t>Prepared July 7, 2026  ·  Confidential — Internal Use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6233B"/>
          </a:solidFill>
          <a:ln/>
        </p:spPr>
        <p:txBody>
          <a:bodyPr/>
          <a:lstStyle/>
          <a:p>
            <a:endParaRPr lang="en-US"/>
          </a:p>
        </p:txBody>
      </p:sp>
      <p:sp>
        <p:nvSpPr>
          <p:cNvPr id="3" name="Shape 1"/>
          <p:cNvSpPr/>
          <p:nvPr/>
        </p:nvSpPr>
        <p:spPr>
          <a:xfrm>
            <a:off x="0" y="1051560"/>
            <a:ext cx="12161520" cy="54864"/>
          </a:xfrm>
          <a:prstGeom prst="rect">
            <a:avLst/>
          </a:prstGeom>
          <a:solidFill>
            <a:srgbClr val="5A6E88"/>
          </a:solidFill>
          <a:ln/>
        </p:spPr>
        <p:txBody>
          <a:bodyPr/>
          <a:lstStyle/>
          <a:p>
            <a:endParaRPr lang="en-US"/>
          </a:p>
        </p:txBody>
      </p:sp>
      <p:sp>
        <p:nvSpPr>
          <p:cNvPr id="4" name="Shape 2"/>
          <p:cNvSpPr/>
          <p:nvPr/>
        </p:nvSpPr>
        <p:spPr>
          <a:xfrm>
            <a:off x="502920" y="310896"/>
            <a:ext cx="128016" cy="457200"/>
          </a:xfrm>
          <a:prstGeom prst="rect">
            <a:avLst/>
          </a:prstGeom>
          <a:solidFill>
            <a:srgbClr val="5A6E88"/>
          </a:solidFill>
          <a:ln/>
        </p:spPr>
        <p:txBody>
          <a:bodyPr/>
          <a:lstStyle/>
          <a:p>
            <a:endParaRPr lang="en-US"/>
          </a:p>
        </p:txBody>
      </p:sp>
      <p:sp>
        <p:nvSpPr>
          <p:cNvPr id="5" name="Text 3"/>
          <p:cNvSpPr/>
          <p:nvPr/>
        </p:nvSpPr>
        <p:spPr>
          <a:xfrm>
            <a:off x="777240" y="256032"/>
            <a:ext cx="8686800" cy="219456"/>
          </a:xfrm>
          <a:prstGeom prst="rect">
            <a:avLst/>
          </a:prstGeom>
          <a:noFill/>
          <a:ln/>
        </p:spPr>
        <p:txBody>
          <a:bodyPr wrap="square" rtlCol="0" anchor="ctr"/>
          <a:lstStyle/>
          <a:p>
            <a:pPr marL="0" indent="0">
              <a:buNone/>
            </a:pPr>
            <a:r>
              <a:rPr lang="en-US" sz="1050" b="1" kern="0" spc="300" dirty="0">
                <a:solidFill>
                  <a:srgbClr val="C9D6E8"/>
                </a:solidFill>
                <a:latin typeface="Calibri" pitchFamily="34" charset="0"/>
                <a:ea typeface="Calibri" pitchFamily="34" charset="-122"/>
                <a:cs typeface="Calibri" pitchFamily="34" charset="-120"/>
              </a:rPr>
              <a:t>SUMMARY</a:t>
            </a:r>
            <a:r>
              <a:rPr lang="en-US" sz="1050" b="1" kern="0" spc="300">
                <a:solidFill>
                  <a:srgbClr val="C9D6E8"/>
                </a:solidFill>
                <a:latin typeface="Calibri" pitchFamily="34" charset="0"/>
                <a:ea typeface="Calibri" pitchFamily="34" charset="-122"/>
                <a:cs typeface="Calibri" pitchFamily="34" charset="-120"/>
              </a:rPr>
              <a:t> OF KEY ISSUES</a:t>
            </a:r>
            <a:endParaRPr lang="en-US" sz="1050" dirty="0"/>
          </a:p>
        </p:txBody>
      </p:sp>
      <p:sp>
        <p:nvSpPr>
          <p:cNvPr id="6" name="Text 4"/>
          <p:cNvSpPr/>
          <p:nvPr/>
        </p:nvSpPr>
        <p:spPr>
          <a:xfrm>
            <a:off x="777240" y="457200"/>
            <a:ext cx="1060704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Where supply chain risk is concentrated</a:t>
            </a:r>
            <a:endParaRPr lang="en-US" sz="2400" dirty="0"/>
          </a:p>
        </p:txBody>
      </p:sp>
      <p:sp>
        <p:nvSpPr>
          <p:cNvPr id="7" name="Text 5"/>
          <p:cNvSpPr/>
          <p:nvPr/>
        </p:nvSpPr>
        <p:spPr>
          <a:xfrm>
            <a:off x="548640" y="1371600"/>
            <a:ext cx="5257800" cy="1554480"/>
          </a:xfrm>
          <a:prstGeom prst="rect">
            <a:avLst/>
          </a:prstGeom>
          <a:noFill/>
          <a:ln/>
        </p:spPr>
        <p:txBody>
          <a:bodyPr wrap="square" rtlCol="0" anchor="t"/>
          <a:lstStyle/>
          <a:p>
            <a:pPr marL="0" indent="0">
              <a:lnSpc>
                <a:spcPts val="2000"/>
              </a:lnSpc>
              <a:buNone/>
            </a:pPr>
            <a:r>
              <a:rPr lang="en-US" sz="1350" dirty="0">
                <a:solidFill>
                  <a:srgbClr val="1B2333"/>
                </a:solidFill>
                <a:latin typeface="Calibri" pitchFamily="34" charset="0"/>
                <a:ea typeface="Calibri" pitchFamily="34" charset="-122"/>
                <a:cs typeface="Calibri" pitchFamily="34" charset="-120"/>
              </a:rPr>
              <a:t>Analysis of 50 component records identifies performance gaps concentrated in a small set of delayed components — </a:t>
            </a:r>
            <a:r>
              <a:rPr lang="en-US" sz="1350" b="1" dirty="0">
                <a:solidFill>
                  <a:srgbClr val="16233B"/>
                </a:solidFill>
                <a:latin typeface="Calibri" pitchFamily="34" charset="0"/>
                <a:ea typeface="Calibri" pitchFamily="34" charset="-122"/>
                <a:cs typeface="Calibri" pitchFamily="34" charset="-120"/>
              </a:rPr>
              <a:t>CARB123, BIND567, and COAT890</a:t>
            </a:r>
            <a:r>
              <a:rPr lang="en-US" sz="1350" dirty="0">
                <a:solidFill>
                  <a:srgbClr val="1B2333"/>
                </a:solidFill>
                <a:latin typeface="Calibri" pitchFamily="34" charset="0"/>
                <a:ea typeface="Calibri" pitchFamily="34" charset="-122"/>
                <a:cs typeface="Calibri" pitchFamily="34" charset="-120"/>
              </a:rPr>
              <a:t>. These delayed components average a 36.2-day delivery timeline versus roughly 13.5 days overall, creating disproportionate operational and compliance exposure.</a:t>
            </a:r>
            <a:endParaRPr lang="en-US" sz="1350" dirty="0"/>
          </a:p>
        </p:txBody>
      </p:sp>
      <p:sp>
        <p:nvSpPr>
          <p:cNvPr id="8" name="Text 6"/>
          <p:cNvSpPr/>
          <p:nvPr/>
        </p:nvSpPr>
        <p:spPr>
          <a:xfrm>
            <a:off x="548640" y="3063240"/>
            <a:ext cx="5257800" cy="1737360"/>
          </a:xfrm>
          <a:prstGeom prst="rect">
            <a:avLst/>
          </a:prstGeom>
          <a:noFill/>
          <a:ln/>
        </p:spPr>
        <p:txBody>
          <a:bodyPr wrap="square" rtlCol="0" anchor="t"/>
          <a:lstStyle/>
          <a:p>
            <a:pPr marL="0" indent="0">
              <a:lnSpc>
                <a:spcPts val="2000"/>
              </a:lnSpc>
              <a:buNone/>
            </a:pPr>
            <a:r>
              <a:rPr lang="en-US" sz="1350" dirty="0">
                <a:solidFill>
                  <a:srgbClr val="1B2333"/>
                </a:solidFill>
                <a:latin typeface="Calibri" pitchFamily="34" charset="0"/>
                <a:ea typeface="Calibri" pitchFamily="34" charset="-122"/>
                <a:cs typeface="Calibri" pitchFamily="34" charset="-120"/>
              </a:rPr>
              <a:t>Supplier performance varies meaningfully. </a:t>
            </a:r>
            <a:r>
              <a:rPr lang="en-US" sz="1350" b="1" dirty="0">
                <a:solidFill>
                  <a:srgbClr val="16233B"/>
                </a:solidFill>
                <a:latin typeface="Calibri" pitchFamily="34" charset="0"/>
                <a:ea typeface="Calibri" pitchFamily="34" charset="-122"/>
                <a:cs typeface="Calibri" pitchFamily="34" charset="-120"/>
              </a:rPr>
              <a:t>EcoSupply</a:t>
            </a:r>
            <a:r>
              <a:rPr lang="en-US" sz="1350" dirty="0">
                <a:solidFill>
                  <a:srgbClr val="1B2333"/>
                </a:solidFill>
                <a:latin typeface="Calibri" pitchFamily="34" charset="0"/>
                <a:ea typeface="Calibri" pitchFamily="34" charset="-122"/>
                <a:cs typeface="Calibri" pitchFamily="34" charset="-120"/>
              </a:rPr>
              <a:t> has the lowest on-time delivery at 87.9%, while </a:t>
            </a:r>
            <a:r>
              <a:rPr lang="en-US" sz="1350" b="1" dirty="0">
                <a:solidFill>
                  <a:srgbClr val="16233B"/>
                </a:solidFill>
                <a:latin typeface="Calibri" pitchFamily="34" charset="0"/>
                <a:ea typeface="Calibri" pitchFamily="34" charset="-122"/>
                <a:cs typeface="Calibri" pitchFamily="34" charset="-120"/>
              </a:rPr>
              <a:t>PrimeLogistics</a:t>
            </a:r>
            <a:r>
              <a:rPr lang="en-US" sz="1350" dirty="0">
                <a:solidFill>
                  <a:srgbClr val="1B2333"/>
                </a:solidFill>
                <a:latin typeface="Calibri" pitchFamily="34" charset="0"/>
                <a:ea typeface="Calibri" pitchFamily="34" charset="-122"/>
                <a:cs typeface="Calibri" pitchFamily="34" charset="-120"/>
              </a:rPr>
              <a:t> shows the highest defect rate (2.89%) and the lowest quality pass rate (92.4%). Risk is driven by a mix of delivery variability, supplier reliability, quality, and inventory planning.</a:t>
            </a:r>
            <a:endParaRPr lang="en-US" sz="1350" dirty="0"/>
          </a:p>
        </p:txBody>
      </p:sp>
      <p:sp>
        <p:nvSpPr>
          <p:cNvPr id="9" name="Shape 7"/>
          <p:cNvSpPr/>
          <p:nvPr/>
        </p:nvSpPr>
        <p:spPr>
          <a:xfrm>
            <a:off x="6172200" y="1371600"/>
            <a:ext cx="2697480" cy="1572768"/>
          </a:xfrm>
          <a:prstGeom prst="rect">
            <a:avLst/>
          </a:prstGeom>
          <a:solidFill>
            <a:srgbClr val="FFFFFF"/>
          </a:solidFill>
          <a:ln w="12700">
            <a:solidFill>
              <a:srgbClr val="D8E0EA"/>
            </a:solidFill>
            <a:prstDash val="solid"/>
          </a:ln>
          <a:effectLst>
            <a:outerShdw blurRad="114300" dist="38100" dir="5400000" algn="bl" rotWithShape="0">
              <a:srgbClr val="0B1320">
                <a:alpha val="16000"/>
              </a:srgbClr>
            </a:outerShdw>
          </a:effectLst>
        </p:spPr>
        <p:txBody>
          <a:bodyPr/>
          <a:lstStyle/>
          <a:p>
            <a:endParaRPr lang="en-US"/>
          </a:p>
        </p:txBody>
      </p:sp>
      <p:sp>
        <p:nvSpPr>
          <p:cNvPr id="10" name="Shape 8"/>
          <p:cNvSpPr/>
          <p:nvPr/>
        </p:nvSpPr>
        <p:spPr>
          <a:xfrm>
            <a:off x="6172200" y="1371600"/>
            <a:ext cx="2697480" cy="91440"/>
          </a:xfrm>
          <a:prstGeom prst="rect">
            <a:avLst/>
          </a:prstGeom>
          <a:solidFill>
            <a:srgbClr val="5A6E88"/>
          </a:solidFill>
          <a:ln/>
        </p:spPr>
        <p:txBody>
          <a:bodyPr/>
          <a:lstStyle/>
          <a:p>
            <a:endParaRPr lang="en-US"/>
          </a:p>
        </p:txBody>
      </p:sp>
      <p:sp>
        <p:nvSpPr>
          <p:cNvPr id="11" name="Text 9"/>
          <p:cNvSpPr/>
          <p:nvPr/>
        </p:nvSpPr>
        <p:spPr>
          <a:xfrm>
            <a:off x="6373368" y="1645920"/>
            <a:ext cx="2331720" cy="640080"/>
          </a:xfrm>
          <a:prstGeom prst="rect">
            <a:avLst/>
          </a:prstGeom>
          <a:noFill/>
          <a:ln/>
        </p:spPr>
        <p:txBody>
          <a:bodyPr wrap="square" rtlCol="0" anchor="ctr"/>
          <a:lstStyle/>
          <a:p>
            <a:pPr marL="0" indent="0">
              <a:buNone/>
            </a:pPr>
            <a:r>
              <a:rPr lang="en-US" sz="3000" b="1" dirty="0">
                <a:solidFill>
                  <a:srgbClr val="16233B"/>
                </a:solidFill>
                <a:latin typeface="Cambria" pitchFamily="34" charset="0"/>
                <a:ea typeface="Cambria" pitchFamily="34" charset="-122"/>
                <a:cs typeface="Cambria" pitchFamily="34" charset="-120"/>
              </a:rPr>
              <a:t>50</a:t>
            </a:r>
            <a:endParaRPr lang="en-US" sz="3000" dirty="0"/>
          </a:p>
        </p:txBody>
      </p:sp>
      <p:sp>
        <p:nvSpPr>
          <p:cNvPr id="12" name="Text 10"/>
          <p:cNvSpPr/>
          <p:nvPr/>
        </p:nvSpPr>
        <p:spPr>
          <a:xfrm>
            <a:off x="6373368" y="2331720"/>
            <a:ext cx="2331720" cy="502920"/>
          </a:xfrm>
          <a:prstGeom prst="rect">
            <a:avLst/>
          </a:prstGeom>
          <a:noFill/>
          <a:ln/>
        </p:spPr>
        <p:txBody>
          <a:bodyPr wrap="square" rtlCol="0" anchor="ctr"/>
          <a:lstStyle/>
          <a:p>
            <a:pPr marL="0" indent="0">
              <a:lnSpc>
                <a:spcPts val="1300"/>
              </a:lnSpc>
              <a:buNone/>
            </a:pPr>
            <a:r>
              <a:rPr lang="en-US" sz="1100" dirty="0">
                <a:solidFill>
                  <a:srgbClr val="5C6675"/>
                </a:solidFill>
                <a:latin typeface="Calibri" pitchFamily="34" charset="0"/>
                <a:ea typeface="Calibri" pitchFamily="34" charset="-122"/>
                <a:cs typeface="Calibri" pitchFamily="34" charset="-120"/>
              </a:rPr>
              <a:t>Component records analyzed</a:t>
            </a:r>
            <a:endParaRPr lang="en-US" sz="1100" dirty="0"/>
          </a:p>
        </p:txBody>
      </p:sp>
      <p:sp>
        <p:nvSpPr>
          <p:cNvPr id="13" name="Shape 11"/>
          <p:cNvSpPr/>
          <p:nvPr/>
        </p:nvSpPr>
        <p:spPr>
          <a:xfrm>
            <a:off x="9125712" y="1371600"/>
            <a:ext cx="2697480" cy="1572768"/>
          </a:xfrm>
          <a:prstGeom prst="rect">
            <a:avLst/>
          </a:prstGeom>
          <a:solidFill>
            <a:srgbClr val="FFFFFF"/>
          </a:solidFill>
          <a:ln w="12700">
            <a:solidFill>
              <a:srgbClr val="D8E0EA"/>
            </a:solidFill>
            <a:prstDash val="solid"/>
          </a:ln>
          <a:effectLst>
            <a:outerShdw blurRad="114300" dist="38100" dir="5400000" algn="bl" rotWithShape="0">
              <a:srgbClr val="0B1320">
                <a:alpha val="16000"/>
              </a:srgbClr>
            </a:outerShdw>
          </a:effectLst>
        </p:spPr>
        <p:txBody>
          <a:bodyPr/>
          <a:lstStyle/>
          <a:p>
            <a:endParaRPr lang="en-US"/>
          </a:p>
        </p:txBody>
      </p:sp>
      <p:sp>
        <p:nvSpPr>
          <p:cNvPr id="14" name="Shape 12"/>
          <p:cNvSpPr/>
          <p:nvPr/>
        </p:nvSpPr>
        <p:spPr>
          <a:xfrm>
            <a:off x="9125712" y="1371600"/>
            <a:ext cx="2697480" cy="91440"/>
          </a:xfrm>
          <a:prstGeom prst="rect">
            <a:avLst/>
          </a:prstGeom>
          <a:solidFill>
            <a:srgbClr val="5A6E88"/>
          </a:solidFill>
          <a:ln/>
        </p:spPr>
        <p:txBody>
          <a:bodyPr/>
          <a:lstStyle/>
          <a:p>
            <a:endParaRPr lang="en-US"/>
          </a:p>
        </p:txBody>
      </p:sp>
      <p:sp>
        <p:nvSpPr>
          <p:cNvPr id="15" name="Text 13"/>
          <p:cNvSpPr/>
          <p:nvPr/>
        </p:nvSpPr>
        <p:spPr>
          <a:xfrm>
            <a:off x="9326880" y="1645920"/>
            <a:ext cx="2331720" cy="640080"/>
          </a:xfrm>
          <a:prstGeom prst="rect">
            <a:avLst/>
          </a:prstGeom>
          <a:noFill/>
          <a:ln/>
        </p:spPr>
        <p:txBody>
          <a:bodyPr wrap="square" rtlCol="0" anchor="ctr"/>
          <a:lstStyle/>
          <a:p>
            <a:pPr marL="0" indent="0">
              <a:buNone/>
            </a:pPr>
            <a:r>
              <a:rPr lang="en-US" sz="3000" b="1" dirty="0">
                <a:solidFill>
                  <a:srgbClr val="16233B"/>
                </a:solidFill>
                <a:latin typeface="Cambria" pitchFamily="34" charset="0"/>
                <a:ea typeface="Cambria" pitchFamily="34" charset="-122"/>
                <a:cs typeface="Cambria" pitchFamily="34" charset="-120"/>
              </a:rPr>
              <a:t>13.5 days</a:t>
            </a:r>
            <a:endParaRPr lang="en-US" sz="3000" dirty="0"/>
          </a:p>
        </p:txBody>
      </p:sp>
      <p:sp>
        <p:nvSpPr>
          <p:cNvPr id="16" name="Text 14"/>
          <p:cNvSpPr/>
          <p:nvPr/>
        </p:nvSpPr>
        <p:spPr>
          <a:xfrm>
            <a:off x="9326880" y="2331720"/>
            <a:ext cx="2331720" cy="502920"/>
          </a:xfrm>
          <a:prstGeom prst="rect">
            <a:avLst/>
          </a:prstGeom>
          <a:noFill/>
          <a:ln/>
        </p:spPr>
        <p:txBody>
          <a:bodyPr wrap="square" rtlCol="0" anchor="ctr"/>
          <a:lstStyle/>
          <a:p>
            <a:pPr marL="0" indent="0">
              <a:lnSpc>
                <a:spcPts val="1300"/>
              </a:lnSpc>
              <a:buNone/>
            </a:pPr>
            <a:r>
              <a:rPr lang="en-US" sz="1100" dirty="0">
                <a:solidFill>
                  <a:srgbClr val="5C6675"/>
                </a:solidFill>
                <a:latin typeface="Calibri" pitchFamily="34" charset="0"/>
                <a:ea typeface="Calibri" pitchFamily="34" charset="-122"/>
                <a:cs typeface="Calibri" pitchFamily="34" charset="-120"/>
              </a:rPr>
              <a:t>Overall avg delivery timeline</a:t>
            </a:r>
            <a:endParaRPr lang="en-US" sz="1100" dirty="0"/>
          </a:p>
        </p:txBody>
      </p:sp>
      <p:sp>
        <p:nvSpPr>
          <p:cNvPr id="17" name="Shape 15"/>
          <p:cNvSpPr/>
          <p:nvPr/>
        </p:nvSpPr>
        <p:spPr>
          <a:xfrm>
            <a:off x="6172200" y="3200400"/>
            <a:ext cx="2697480" cy="1572768"/>
          </a:xfrm>
          <a:prstGeom prst="rect">
            <a:avLst/>
          </a:prstGeom>
          <a:solidFill>
            <a:srgbClr val="FFFFFF"/>
          </a:solidFill>
          <a:ln w="12700">
            <a:solidFill>
              <a:srgbClr val="D8E0EA"/>
            </a:solidFill>
            <a:prstDash val="solid"/>
          </a:ln>
          <a:effectLst>
            <a:outerShdw blurRad="114300" dist="38100" dir="5400000" algn="bl" rotWithShape="0">
              <a:srgbClr val="0B1320">
                <a:alpha val="16000"/>
              </a:srgbClr>
            </a:outerShdw>
          </a:effectLst>
        </p:spPr>
        <p:txBody>
          <a:bodyPr/>
          <a:lstStyle/>
          <a:p>
            <a:endParaRPr lang="en-US"/>
          </a:p>
        </p:txBody>
      </p:sp>
      <p:sp>
        <p:nvSpPr>
          <p:cNvPr id="18" name="Shape 16"/>
          <p:cNvSpPr/>
          <p:nvPr/>
        </p:nvSpPr>
        <p:spPr>
          <a:xfrm>
            <a:off x="6172200" y="3200400"/>
            <a:ext cx="2697480" cy="91440"/>
          </a:xfrm>
          <a:prstGeom prst="rect">
            <a:avLst/>
          </a:prstGeom>
          <a:solidFill>
            <a:srgbClr val="B23A3A"/>
          </a:solidFill>
          <a:ln/>
        </p:spPr>
        <p:txBody>
          <a:bodyPr/>
          <a:lstStyle/>
          <a:p>
            <a:endParaRPr lang="en-US"/>
          </a:p>
        </p:txBody>
      </p:sp>
      <p:sp>
        <p:nvSpPr>
          <p:cNvPr id="19" name="Text 17"/>
          <p:cNvSpPr/>
          <p:nvPr/>
        </p:nvSpPr>
        <p:spPr>
          <a:xfrm>
            <a:off x="6373368" y="3474720"/>
            <a:ext cx="2331720" cy="640080"/>
          </a:xfrm>
          <a:prstGeom prst="rect">
            <a:avLst/>
          </a:prstGeom>
          <a:noFill/>
          <a:ln/>
        </p:spPr>
        <p:txBody>
          <a:bodyPr wrap="square" rtlCol="0" anchor="ctr"/>
          <a:lstStyle/>
          <a:p>
            <a:pPr marL="0" indent="0">
              <a:buNone/>
            </a:pPr>
            <a:r>
              <a:rPr lang="en-US" sz="3000" b="1" dirty="0">
                <a:solidFill>
                  <a:srgbClr val="16233B"/>
                </a:solidFill>
                <a:latin typeface="Cambria" pitchFamily="34" charset="0"/>
                <a:ea typeface="Cambria" pitchFamily="34" charset="-122"/>
                <a:cs typeface="Cambria" pitchFamily="34" charset="-120"/>
              </a:rPr>
              <a:t>36.2 days</a:t>
            </a:r>
            <a:endParaRPr lang="en-US" sz="3000" dirty="0"/>
          </a:p>
        </p:txBody>
      </p:sp>
      <p:sp>
        <p:nvSpPr>
          <p:cNvPr id="20" name="Text 18"/>
          <p:cNvSpPr/>
          <p:nvPr/>
        </p:nvSpPr>
        <p:spPr>
          <a:xfrm>
            <a:off x="6373368" y="4160520"/>
            <a:ext cx="2331720" cy="502920"/>
          </a:xfrm>
          <a:prstGeom prst="rect">
            <a:avLst/>
          </a:prstGeom>
          <a:noFill/>
          <a:ln/>
        </p:spPr>
        <p:txBody>
          <a:bodyPr wrap="square" rtlCol="0" anchor="ctr"/>
          <a:lstStyle/>
          <a:p>
            <a:pPr marL="0" indent="0">
              <a:lnSpc>
                <a:spcPts val="1300"/>
              </a:lnSpc>
              <a:buNone/>
            </a:pPr>
            <a:r>
              <a:rPr lang="en-US" sz="1100" dirty="0">
                <a:solidFill>
                  <a:srgbClr val="5C6675"/>
                </a:solidFill>
                <a:latin typeface="Calibri" pitchFamily="34" charset="0"/>
                <a:ea typeface="Calibri" pitchFamily="34" charset="-122"/>
                <a:cs typeface="Calibri" pitchFamily="34" charset="-120"/>
              </a:rPr>
              <a:t>Avg for delayed components</a:t>
            </a:r>
            <a:endParaRPr lang="en-US" sz="1100" dirty="0"/>
          </a:p>
        </p:txBody>
      </p:sp>
      <p:sp>
        <p:nvSpPr>
          <p:cNvPr id="21" name="Shape 19"/>
          <p:cNvSpPr/>
          <p:nvPr/>
        </p:nvSpPr>
        <p:spPr>
          <a:xfrm>
            <a:off x="9125712" y="3200400"/>
            <a:ext cx="2697480" cy="1572768"/>
          </a:xfrm>
          <a:prstGeom prst="rect">
            <a:avLst/>
          </a:prstGeom>
          <a:solidFill>
            <a:srgbClr val="FFFFFF"/>
          </a:solidFill>
          <a:ln w="12700">
            <a:solidFill>
              <a:srgbClr val="D8E0EA"/>
            </a:solidFill>
            <a:prstDash val="solid"/>
          </a:ln>
          <a:effectLst>
            <a:outerShdw blurRad="114300" dist="38100" dir="5400000" algn="bl" rotWithShape="0">
              <a:srgbClr val="0B1320">
                <a:alpha val="16000"/>
              </a:srgbClr>
            </a:outerShdw>
          </a:effectLst>
        </p:spPr>
        <p:txBody>
          <a:bodyPr/>
          <a:lstStyle/>
          <a:p>
            <a:endParaRPr lang="en-US"/>
          </a:p>
        </p:txBody>
      </p:sp>
      <p:sp>
        <p:nvSpPr>
          <p:cNvPr id="22" name="Shape 20"/>
          <p:cNvSpPr/>
          <p:nvPr/>
        </p:nvSpPr>
        <p:spPr>
          <a:xfrm>
            <a:off x="9125712" y="3200400"/>
            <a:ext cx="2697480" cy="91440"/>
          </a:xfrm>
          <a:prstGeom prst="rect">
            <a:avLst/>
          </a:prstGeom>
          <a:solidFill>
            <a:srgbClr val="C4842B"/>
          </a:solidFill>
          <a:ln/>
        </p:spPr>
        <p:txBody>
          <a:bodyPr/>
          <a:lstStyle/>
          <a:p>
            <a:endParaRPr lang="en-US"/>
          </a:p>
        </p:txBody>
      </p:sp>
      <p:sp>
        <p:nvSpPr>
          <p:cNvPr id="23" name="Text 21"/>
          <p:cNvSpPr/>
          <p:nvPr/>
        </p:nvSpPr>
        <p:spPr>
          <a:xfrm>
            <a:off x="9326880" y="3474720"/>
            <a:ext cx="2331720" cy="640080"/>
          </a:xfrm>
          <a:prstGeom prst="rect">
            <a:avLst/>
          </a:prstGeom>
          <a:noFill/>
          <a:ln/>
        </p:spPr>
        <p:txBody>
          <a:bodyPr wrap="square" rtlCol="0" anchor="ctr"/>
          <a:lstStyle/>
          <a:p>
            <a:pPr marL="0" indent="0">
              <a:buNone/>
            </a:pPr>
            <a:r>
              <a:rPr lang="en-US" sz="3000" b="1" dirty="0">
                <a:solidFill>
                  <a:srgbClr val="16233B"/>
                </a:solidFill>
                <a:latin typeface="Cambria" pitchFamily="34" charset="0"/>
                <a:ea typeface="Cambria" pitchFamily="34" charset="-122"/>
                <a:cs typeface="Cambria" pitchFamily="34" charset="-120"/>
              </a:rPr>
              <a:t>15.1 days</a:t>
            </a:r>
            <a:endParaRPr lang="en-US" sz="3000" dirty="0"/>
          </a:p>
        </p:txBody>
      </p:sp>
      <p:sp>
        <p:nvSpPr>
          <p:cNvPr id="24" name="Text 22"/>
          <p:cNvSpPr/>
          <p:nvPr/>
        </p:nvSpPr>
        <p:spPr>
          <a:xfrm>
            <a:off x="9326880" y="4160520"/>
            <a:ext cx="2331720" cy="502920"/>
          </a:xfrm>
          <a:prstGeom prst="rect">
            <a:avLst/>
          </a:prstGeom>
          <a:noFill/>
          <a:ln/>
        </p:spPr>
        <p:txBody>
          <a:bodyPr wrap="square" rtlCol="0" anchor="ctr"/>
          <a:lstStyle/>
          <a:p>
            <a:pPr marL="0" indent="0">
              <a:lnSpc>
                <a:spcPts val="1300"/>
              </a:lnSpc>
              <a:buNone/>
            </a:pPr>
            <a:r>
              <a:rPr lang="en-US" sz="1100" dirty="0">
                <a:solidFill>
                  <a:srgbClr val="5C6675"/>
                </a:solidFill>
                <a:latin typeface="Calibri" pitchFamily="34" charset="0"/>
                <a:ea typeface="Calibri" pitchFamily="34" charset="-122"/>
                <a:cs typeface="Calibri" pitchFamily="34" charset="-120"/>
              </a:rPr>
              <a:t>Medium-risk avg (24 records)</a:t>
            </a:r>
            <a:endParaRPr lang="en-US" sz="1100" dirty="0"/>
          </a:p>
        </p:txBody>
      </p:sp>
      <p:sp>
        <p:nvSpPr>
          <p:cNvPr id="25" name="Text 23"/>
          <p:cNvSpPr/>
          <p:nvPr/>
        </p:nvSpPr>
        <p:spPr>
          <a:xfrm>
            <a:off x="502920" y="6455664"/>
            <a:ext cx="6400800" cy="274320"/>
          </a:xfrm>
          <a:prstGeom prst="rect">
            <a:avLst/>
          </a:prstGeom>
          <a:noFill/>
          <a:ln/>
        </p:spPr>
        <p:txBody>
          <a:bodyPr wrap="square" rtlCol="0" anchor="ctr"/>
          <a:lstStyle/>
          <a:p>
            <a:pPr marL="0" indent="0">
              <a:buNone/>
            </a:pPr>
            <a:r>
              <a:rPr lang="en-US" sz="850" dirty="0">
                <a:solidFill>
                  <a:srgbClr val="5C6675"/>
                </a:solidFill>
                <a:latin typeface="Calibri" pitchFamily="34" charset="0"/>
                <a:ea typeface="Calibri" pitchFamily="34" charset="-122"/>
                <a:cs typeface="Calibri" pitchFamily="34" charset="-120"/>
              </a:rPr>
              <a:t>Supply Chain Issue Compliance Report</a:t>
            </a:r>
            <a:endParaRPr lang="en-US" sz="850" dirty="0"/>
          </a:p>
        </p:txBody>
      </p:sp>
      <p:sp>
        <p:nvSpPr>
          <p:cNvPr id="26" name="Text 24"/>
          <p:cNvSpPr/>
          <p:nvPr/>
        </p:nvSpPr>
        <p:spPr>
          <a:xfrm>
            <a:off x="5486400" y="6455664"/>
            <a:ext cx="4846320" cy="274320"/>
          </a:xfrm>
          <a:prstGeom prst="rect">
            <a:avLst/>
          </a:prstGeom>
          <a:noFill/>
          <a:ln/>
        </p:spPr>
        <p:txBody>
          <a:bodyPr wrap="square" rtlCol="0" anchor="ctr"/>
          <a:lstStyle/>
          <a:p>
            <a:pPr marL="0" indent="0" algn="r">
              <a:buNone/>
            </a:pPr>
            <a:r>
              <a:rPr lang="en-US" sz="850" dirty="0">
                <a:solidFill>
                  <a:srgbClr val="5C6675"/>
                </a:solidFill>
                <a:latin typeface="Calibri" pitchFamily="34" charset="0"/>
                <a:ea typeface="Calibri" pitchFamily="34" charset="-122"/>
                <a:cs typeface="Calibri" pitchFamily="34" charset="-120"/>
              </a:rPr>
              <a:t>50 component records  ·  5 suppliers  ·  July 2026</a:t>
            </a:r>
            <a:endParaRPr lang="en-US" sz="850" dirty="0"/>
          </a:p>
        </p:txBody>
      </p:sp>
      <p:sp>
        <p:nvSpPr>
          <p:cNvPr id="27" name="Text 25"/>
          <p:cNvSpPr/>
          <p:nvPr/>
        </p:nvSpPr>
        <p:spPr>
          <a:xfrm>
            <a:off x="11475720" y="6419088"/>
            <a:ext cx="365760" cy="292608"/>
          </a:xfrm>
          <a:prstGeom prst="rect">
            <a:avLst/>
          </a:prstGeom>
          <a:noFill/>
          <a:ln/>
        </p:spPr>
        <p:txBody>
          <a:bodyPr wrap="square" rtlCol="0" anchor="ctr"/>
          <a:lstStyle/>
          <a:p>
            <a:pPr marL="0" indent="0" algn="r">
              <a:buNone/>
            </a:pPr>
            <a:r>
              <a:rPr lang="en-US" sz="900" b="1" dirty="0">
                <a:solidFill>
                  <a:srgbClr val="5A6E8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6233B"/>
          </a:solidFill>
          <a:ln/>
        </p:spPr>
        <p:txBody>
          <a:bodyPr/>
          <a:lstStyle/>
          <a:p>
            <a:endParaRPr lang="en-US"/>
          </a:p>
        </p:txBody>
      </p:sp>
      <p:sp>
        <p:nvSpPr>
          <p:cNvPr id="3" name="Shape 1"/>
          <p:cNvSpPr/>
          <p:nvPr/>
        </p:nvSpPr>
        <p:spPr>
          <a:xfrm>
            <a:off x="0" y="1051560"/>
            <a:ext cx="12161520" cy="54864"/>
          </a:xfrm>
          <a:prstGeom prst="rect">
            <a:avLst/>
          </a:prstGeom>
          <a:solidFill>
            <a:srgbClr val="5A6E88"/>
          </a:solidFill>
          <a:ln/>
        </p:spPr>
        <p:txBody>
          <a:bodyPr/>
          <a:lstStyle/>
          <a:p>
            <a:endParaRPr lang="en-US"/>
          </a:p>
        </p:txBody>
      </p:sp>
      <p:sp>
        <p:nvSpPr>
          <p:cNvPr id="4" name="Shape 2"/>
          <p:cNvSpPr/>
          <p:nvPr/>
        </p:nvSpPr>
        <p:spPr>
          <a:xfrm>
            <a:off x="502920" y="310896"/>
            <a:ext cx="128016" cy="457200"/>
          </a:xfrm>
          <a:prstGeom prst="rect">
            <a:avLst/>
          </a:prstGeom>
          <a:solidFill>
            <a:srgbClr val="5A6E88"/>
          </a:solidFill>
          <a:ln/>
        </p:spPr>
        <p:txBody>
          <a:bodyPr/>
          <a:lstStyle/>
          <a:p>
            <a:endParaRPr lang="en-US"/>
          </a:p>
        </p:txBody>
      </p:sp>
      <p:sp>
        <p:nvSpPr>
          <p:cNvPr id="5" name="Text 3"/>
          <p:cNvSpPr/>
          <p:nvPr/>
        </p:nvSpPr>
        <p:spPr>
          <a:xfrm>
            <a:off x="777240" y="256032"/>
            <a:ext cx="8686800" cy="219456"/>
          </a:xfrm>
          <a:prstGeom prst="rect">
            <a:avLst/>
          </a:prstGeom>
          <a:noFill/>
          <a:ln/>
        </p:spPr>
        <p:txBody>
          <a:bodyPr wrap="square" rtlCol="0" anchor="ctr"/>
          <a:lstStyle/>
          <a:p>
            <a:pPr marL="0" indent="0">
              <a:buNone/>
            </a:pPr>
            <a:r>
              <a:rPr lang="en-US" sz="1050" b="1" kern="0" spc="300">
                <a:solidFill>
                  <a:srgbClr val="C9D6E8"/>
                </a:solidFill>
                <a:latin typeface="Calibri" pitchFamily="34" charset="0"/>
                <a:ea typeface="Calibri" pitchFamily="34" charset="-122"/>
                <a:cs typeface="Calibri" pitchFamily="34" charset="-120"/>
              </a:rPr>
              <a:t>EXCEL DATA ANALYSIS FINDINGS</a:t>
            </a:r>
            <a:endParaRPr lang="en-US" sz="1050" dirty="0"/>
          </a:p>
        </p:txBody>
      </p:sp>
      <p:sp>
        <p:nvSpPr>
          <p:cNvPr id="6" name="Text 4"/>
          <p:cNvSpPr/>
          <p:nvPr/>
        </p:nvSpPr>
        <p:spPr>
          <a:xfrm>
            <a:off x="777240" y="457200"/>
            <a:ext cx="1060704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Delayed components drive the exposure</a:t>
            </a:r>
            <a:endParaRPr lang="en-US" sz="2400" dirty="0"/>
          </a:p>
        </p:txBody>
      </p:sp>
      <p:sp>
        <p:nvSpPr>
          <p:cNvPr id="7" name="Text 5"/>
          <p:cNvSpPr/>
          <p:nvPr/>
        </p:nvSpPr>
        <p:spPr>
          <a:xfrm>
            <a:off x="548640" y="1280160"/>
            <a:ext cx="5029200" cy="320040"/>
          </a:xfrm>
          <a:prstGeom prst="rect">
            <a:avLst/>
          </a:prstGeom>
          <a:noFill/>
          <a:ln/>
        </p:spPr>
        <p:txBody>
          <a:bodyPr wrap="square" rtlCol="0" anchor="ctr"/>
          <a:lstStyle/>
          <a:p>
            <a:pPr marL="0" indent="0">
              <a:buNone/>
            </a:pPr>
            <a:r>
              <a:rPr lang="en-US" sz="1200" b="1" dirty="0">
                <a:solidFill>
                  <a:srgbClr val="16233B"/>
                </a:solidFill>
                <a:latin typeface="Calibri" pitchFamily="34" charset="0"/>
                <a:ea typeface="Calibri" pitchFamily="34" charset="-122"/>
                <a:cs typeface="Calibri" pitchFamily="34" charset="-120"/>
              </a:rPr>
              <a:t>Average delivery timeline (days)</a:t>
            </a:r>
            <a:endParaRPr lang="en-US" sz="1200" dirty="0"/>
          </a:p>
        </p:txBody>
      </p:sp>
      <p:graphicFrame>
        <p:nvGraphicFramePr>
          <p:cNvPr id="8" name="Chart 0"/>
          <p:cNvGraphicFramePr/>
          <p:nvPr/>
        </p:nvGraphicFramePr>
        <p:xfrm>
          <a:off x="457200" y="1600200"/>
          <a:ext cx="53949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6172200" y="1371600"/>
            <a:ext cx="5440680" cy="1417320"/>
          </a:xfrm>
          <a:prstGeom prst="rect">
            <a:avLst/>
          </a:prstGeom>
          <a:solidFill>
            <a:srgbClr val="FFFFFF"/>
          </a:solidFill>
          <a:ln w="12700">
            <a:solidFill>
              <a:srgbClr val="D8E0EA"/>
            </a:solidFill>
            <a:prstDash val="solid"/>
          </a:ln>
          <a:effectLst>
            <a:outerShdw blurRad="114300" dist="38100" dir="5400000" algn="bl" rotWithShape="0">
              <a:srgbClr val="0B1320">
                <a:alpha val="16000"/>
              </a:srgbClr>
            </a:outerShdw>
          </a:effectLst>
        </p:spPr>
        <p:txBody>
          <a:bodyPr/>
          <a:lstStyle/>
          <a:p>
            <a:endParaRPr lang="en-US"/>
          </a:p>
        </p:txBody>
      </p:sp>
      <p:sp>
        <p:nvSpPr>
          <p:cNvPr id="10" name="Shape 7"/>
          <p:cNvSpPr/>
          <p:nvPr/>
        </p:nvSpPr>
        <p:spPr>
          <a:xfrm>
            <a:off x="6172200" y="1371600"/>
            <a:ext cx="100584" cy="1417320"/>
          </a:xfrm>
          <a:prstGeom prst="rect">
            <a:avLst/>
          </a:prstGeom>
          <a:solidFill>
            <a:srgbClr val="5A6E88"/>
          </a:solidFill>
          <a:ln/>
        </p:spPr>
        <p:txBody>
          <a:bodyPr/>
          <a:lstStyle/>
          <a:p>
            <a:endParaRPr lang="en-US"/>
          </a:p>
        </p:txBody>
      </p:sp>
      <p:sp>
        <p:nvSpPr>
          <p:cNvPr id="11" name="Text 8"/>
          <p:cNvSpPr/>
          <p:nvPr/>
        </p:nvSpPr>
        <p:spPr>
          <a:xfrm>
            <a:off x="6428232" y="1499616"/>
            <a:ext cx="2194560" cy="365760"/>
          </a:xfrm>
          <a:prstGeom prst="rect">
            <a:avLst/>
          </a:prstGeom>
          <a:noFill/>
          <a:ln/>
        </p:spPr>
        <p:txBody>
          <a:bodyPr wrap="square" rtlCol="0" anchor="ctr"/>
          <a:lstStyle/>
          <a:p>
            <a:pPr marL="0" indent="0">
              <a:buNone/>
            </a:pPr>
            <a:r>
              <a:rPr lang="en-US" sz="1700" b="1" dirty="0">
                <a:solidFill>
                  <a:srgbClr val="16233B"/>
                </a:solidFill>
                <a:latin typeface="Cambria" pitchFamily="34" charset="0"/>
                <a:ea typeface="Cambria" pitchFamily="34" charset="-122"/>
                <a:cs typeface="Cambria" pitchFamily="34" charset="-120"/>
              </a:rPr>
              <a:t>CARB123</a:t>
            </a:r>
            <a:endParaRPr lang="en-US" sz="1700" dirty="0"/>
          </a:p>
        </p:txBody>
      </p:sp>
      <p:sp>
        <p:nvSpPr>
          <p:cNvPr id="12" name="Text 9"/>
          <p:cNvSpPr/>
          <p:nvPr/>
        </p:nvSpPr>
        <p:spPr>
          <a:xfrm>
            <a:off x="6428232" y="1901952"/>
            <a:ext cx="4983480" cy="274320"/>
          </a:xfrm>
          <a:prstGeom prst="rect">
            <a:avLst/>
          </a:prstGeom>
          <a:noFill/>
          <a:ln/>
        </p:spPr>
        <p:txBody>
          <a:bodyPr wrap="square" rtlCol="0" anchor="ctr"/>
          <a:lstStyle/>
          <a:p>
            <a:pPr marL="0" indent="0">
              <a:buNone/>
            </a:pPr>
            <a:r>
              <a:rPr lang="en-US" sz="1050" b="1" dirty="0">
                <a:solidFill>
                  <a:srgbClr val="5A6E88"/>
                </a:solidFill>
                <a:latin typeface="Calibri" pitchFamily="34" charset="0"/>
                <a:ea typeface="Calibri" pitchFamily="34" charset="-122"/>
                <a:cs typeface="Calibri" pitchFamily="34" charset="-120"/>
              </a:rPr>
              <a:t>4 records  ·  23.3 days  ·  90.3% on-time</a:t>
            </a:r>
            <a:endParaRPr lang="en-US" sz="1050" dirty="0"/>
          </a:p>
        </p:txBody>
      </p:sp>
      <p:sp>
        <p:nvSpPr>
          <p:cNvPr id="13" name="Text 10"/>
          <p:cNvSpPr/>
          <p:nvPr/>
        </p:nvSpPr>
        <p:spPr>
          <a:xfrm>
            <a:off x="6428232" y="2157984"/>
            <a:ext cx="4937760" cy="566928"/>
          </a:xfrm>
          <a:prstGeom prst="rect">
            <a:avLst/>
          </a:prstGeom>
          <a:noFill/>
          <a:ln/>
        </p:spPr>
        <p:txBody>
          <a:bodyPr wrap="square" rtlCol="0" anchor="ctr"/>
          <a:lstStyle/>
          <a:p>
            <a:pPr marL="0" indent="0">
              <a:lnSpc>
                <a:spcPts val="1250"/>
              </a:lnSpc>
              <a:buNone/>
            </a:pPr>
            <a:r>
              <a:rPr lang="en-US" sz="1050" dirty="0">
                <a:solidFill>
                  <a:srgbClr val="5C6675"/>
                </a:solidFill>
                <a:latin typeface="Calibri" pitchFamily="34" charset="0"/>
                <a:ea typeface="Calibri" pitchFamily="34" charset="-122"/>
                <a:cs typeface="Calibri" pitchFamily="34" charset="-120"/>
              </a:rPr>
              <a:t>Repeated delivery variability across mixed risk levels, including high-risk records needing expedite shipping and inventory increases.</a:t>
            </a:r>
            <a:endParaRPr lang="en-US" sz="1050" dirty="0"/>
          </a:p>
        </p:txBody>
      </p:sp>
      <p:sp>
        <p:nvSpPr>
          <p:cNvPr id="14" name="Shape 11"/>
          <p:cNvSpPr/>
          <p:nvPr/>
        </p:nvSpPr>
        <p:spPr>
          <a:xfrm>
            <a:off x="6172200" y="2971800"/>
            <a:ext cx="5440680" cy="1417320"/>
          </a:xfrm>
          <a:prstGeom prst="rect">
            <a:avLst/>
          </a:prstGeom>
          <a:solidFill>
            <a:srgbClr val="FFFFFF"/>
          </a:solidFill>
          <a:ln w="12700">
            <a:solidFill>
              <a:srgbClr val="D8E0EA"/>
            </a:solidFill>
            <a:prstDash val="solid"/>
          </a:ln>
          <a:effectLst>
            <a:outerShdw blurRad="114300" dist="38100" dir="5400000" algn="bl" rotWithShape="0">
              <a:srgbClr val="0B1320">
                <a:alpha val="16000"/>
              </a:srgbClr>
            </a:outerShdw>
          </a:effectLst>
        </p:spPr>
        <p:txBody>
          <a:bodyPr/>
          <a:lstStyle/>
          <a:p>
            <a:endParaRPr lang="en-US"/>
          </a:p>
        </p:txBody>
      </p:sp>
      <p:sp>
        <p:nvSpPr>
          <p:cNvPr id="15" name="Shape 12"/>
          <p:cNvSpPr/>
          <p:nvPr/>
        </p:nvSpPr>
        <p:spPr>
          <a:xfrm>
            <a:off x="6172200" y="2971800"/>
            <a:ext cx="100584" cy="1417320"/>
          </a:xfrm>
          <a:prstGeom prst="rect">
            <a:avLst/>
          </a:prstGeom>
          <a:solidFill>
            <a:srgbClr val="B23A3A"/>
          </a:solidFill>
          <a:ln/>
        </p:spPr>
        <p:txBody>
          <a:bodyPr/>
          <a:lstStyle/>
          <a:p>
            <a:endParaRPr lang="en-US"/>
          </a:p>
        </p:txBody>
      </p:sp>
      <p:sp>
        <p:nvSpPr>
          <p:cNvPr id="16" name="Text 13"/>
          <p:cNvSpPr/>
          <p:nvPr/>
        </p:nvSpPr>
        <p:spPr>
          <a:xfrm>
            <a:off x="6428232" y="3099816"/>
            <a:ext cx="2194560" cy="365760"/>
          </a:xfrm>
          <a:prstGeom prst="rect">
            <a:avLst/>
          </a:prstGeom>
          <a:noFill/>
          <a:ln/>
        </p:spPr>
        <p:txBody>
          <a:bodyPr wrap="square" rtlCol="0" anchor="ctr"/>
          <a:lstStyle/>
          <a:p>
            <a:pPr marL="0" indent="0">
              <a:buNone/>
            </a:pPr>
            <a:r>
              <a:rPr lang="en-US" sz="1700" b="1" dirty="0">
                <a:solidFill>
                  <a:srgbClr val="16233B"/>
                </a:solidFill>
                <a:latin typeface="Cambria" pitchFamily="34" charset="0"/>
                <a:ea typeface="Cambria" pitchFamily="34" charset="-122"/>
                <a:cs typeface="Cambria" pitchFamily="34" charset="-120"/>
              </a:rPr>
              <a:t>BIND567</a:t>
            </a:r>
            <a:endParaRPr lang="en-US" sz="1700" dirty="0"/>
          </a:p>
        </p:txBody>
      </p:sp>
      <p:sp>
        <p:nvSpPr>
          <p:cNvPr id="17" name="Text 14"/>
          <p:cNvSpPr/>
          <p:nvPr/>
        </p:nvSpPr>
        <p:spPr>
          <a:xfrm>
            <a:off x="6428232" y="3502152"/>
            <a:ext cx="4983480" cy="274320"/>
          </a:xfrm>
          <a:prstGeom prst="rect">
            <a:avLst/>
          </a:prstGeom>
          <a:noFill/>
          <a:ln/>
        </p:spPr>
        <p:txBody>
          <a:bodyPr wrap="square" rtlCol="0" anchor="ctr"/>
          <a:lstStyle/>
          <a:p>
            <a:pPr marL="0" indent="0">
              <a:buNone/>
            </a:pPr>
            <a:r>
              <a:rPr lang="en-US" sz="1050" b="1" dirty="0">
                <a:solidFill>
                  <a:srgbClr val="B23A3A"/>
                </a:solidFill>
                <a:latin typeface="Calibri" pitchFamily="34" charset="0"/>
                <a:ea typeface="Calibri" pitchFamily="34" charset="-122"/>
                <a:cs typeface="Calibri" pitchFamily="34" charset="-120"/>
              </a:rPr>
              <a:t>1 record  ·  64 days  ·  99% on-time</a:t>
            </a:r>
            <a:endParaRPr lang="en-US" sz="1050" dirty="0"/>
          </a:p>
        </p:txBody>
      </p:sp>
      <p:sp>
        <p:nvSpPr>
          <p:cNvPr id="18" name="Text 15"/>
          <p:cNvSpPr/>
          <p:nvPr/>
        </p:nvSpPr>
        <p:spPr>
          <a:xfrm>
            <a:off x="6428232" y="3758184"/>
            <a:ext cx="4937760" cy="566928"/>
          </a:xfrm>
          <a:prstGeom prst="rect">
            <a:avLst/>
          </a:prstGeom>
          <a:noFill/>
          <a:ln/>
        </p:spPr>
        <p:txBody>
          <a:bodyPr wrap="square" rtlCol="0" anchor="ctr"/>
          <a:lstStyle/>
          <a:p>
            <a:pPr marL="0" indent="0">
              <a:lnSpc>
                <a:spcPts val="1250"/>
              </a:lnSpc>
              <a:buNone/>
            </a:pPr>
            <a:r>
              <a:rPr lang="en-US" sz="1050" dirty="0">
                <a:solidFill>
                  <a:srgbClr val="5C6675"/>
                </a:solidFill>
                <a:latin typeface="Calibri" pitchFamily="34" charset="0"/>
                <a:ea typeface="Calibri" pitchFamily="34" charset="-122"/>
                <a:cs typeface="Calibri" pitchFamily="34" charset="-120"/>
              </a:rPr>
              <a:t>Extreme delivery-timeline outlier despite strong supplier reliability and on-time performance — a severe lead-time exception.</a:t>
            </a:r>
            <a:endParaRPr lang="en-US" sz="1050" dirty="0"/>
          </a:p>
        </p:txBody>
      </p:sp>
      <p:sp>
        <p:nvSpPr>
          <p:cNvPr id="19" name="Shape 16"/>
          <p:cNvSpPr/>
          <p:nvPr/>
        </p:nvSpPr>
        <p:spPr>
          <a:xfrm>
            <a:off x="6172200" y="4572000"/>
            <a:ext cx="5440680" cy="1417320"/>
          </a:xfrm>
          <a:prstGeom prst="rect">
            <a:avLst/>
          </a:prstGeom>
          <a:solidFill>
            <a:srgbClr val="FFFFFF"/>
          </a:solidFill>
          <a:ln w="12700">
            <a:solidFill>
              <a:srgbClr val="D8E0EA"/>
            </a:solidFill>
            <a:prstDash val="solid"/>
          </a:ln>
          <a:effectLst>
            <a:outerShdw blurRad="114300" dist="38100" dir="5400000" algn="bl" rotWithShape="0">
              <a:srgbClr val="0B1320">
                <a:alpha val="16000"/>
              </a:srgbClr>
            </a:outerShdw>
          </a:effectLst>
        </p:spPr>
        <p:txBody>
          <a:bodyPr/>
          <a:lstStyle/>
          <a:p>
            <a:endParaRPr lang="en-US"/>
          </a:p>
        </p:txBody>
      </p:sp>
      <p:sp>
        <p:nvSpPr>
          <p:cNvPr id="20" name="Shape 17"/>
          <p:cNvSpPr/>
          <p:nvPr/>
        </p:nvSpPr>
        <p:spPr>
          <a:xfrm>
            <a:off x="6172200" y="4572000"/>
            <a:ext cx="100584" cy="1417320"/>
          </a:xfrm>
          <a:prstGeom prst="rect">
            <a:avLst/>
          </a:prstGeom>
          <a:solidFill>
            <a:srgbClr val="C4842B"/>
          </a:solidFill>
          <a:ln/>
        </p:spPr>
        <p:txBody>
          <a:bodyPr/>
          <a:lstStyle/>
          <a:p>
            <a:endParaRPr lang="en-US"/>
          </a:p>
        </p:txBody>
      </p:sp>
      <p:sp>
        <p:nvSpPr>
          <p:cNvPr id="21" name="Text 18"/>
          <p:cNvSpPr/>
          <p:nvPr/>
        </p:nvSpPr>
        <p:spPr>
          <a:xfrm>
            <a:off x="6428232" y="4700016"/>
            <a:ext cx="2194560" cy="365760"/>
          </a:xfrm>
          <a:prstGeom prst="rect">
            <a:avLst/>
          </a:prstGeom>
          <a:noFill/>
          <a:ln/>
        </p:spPr>
        <p:txBody>
          <a:bodyPr wrap="square" rtlCol="0" anchor="ctr"/>
          <a:lstStyle/>
          <a:p>
            <a:pPr marL="0" indent="0">
              <a:buNone/>
            </a:pPr>
            <a:r>
              <a:rPr lang="en-US" sz="1700" b="1" dirty="0">
                <a:solidFill>
                  <a:srgbClr val="16233B"/>
                </a:solidFill>
                <a:latin typeface="Cambria" pitchFamily="34" charset="0"/>
                <a:ea typeface="Cambria" pitchFamily="34" charset="-122"/>
                <a:cs typeface="Cambria" pitchFamily="34" charset="-120"/>
              </a:rPr>
              <a:t>COAT890</a:t>
            </a:r>
            <a:endParaRPr lang="en-US" sz="1700" dirty="0"/>
          </a:p>
        </p:txBody>
      </p:sp>
      <p:sp>
        <p:nvSpPr>
          <p:cNvPr id="22" name="Text 19"/>
          <p:cNvSpPr/>
          <p:nvPr/>
        </p:nvSpPr>
        <p:spPr>
          <a:xfrm>
            <a:off x="6428232" y="5102352"/>
            <a:ext cx="4983480" cy="274320"/>
          </a:xfrm>
          <a:prstGeom prst="rect">
            <a:avLst/>
          </a:prstGeom>
          <a:noFill/>
          <a:ln/>
        </p:spPr>
        <p:txBody>
          <a:bodyPr wrap="square" rtlCol="0" anchor="ctr"/>
          <a:lstStyle/>
          <a:p>
            <a:pPr marL="0" indent="0">
              <a:buNone/>
            </a:pPr>
            <a:r>
              <a:rPr lang="en-US" sz="1050" b="1" dirty="0">
                <a:solidFill>
                  <a:srgbClr val="C4842B"/>
                </a:solidFill>
                <a:latin typeface="Calibri" pitchFamily="34" charset="0"/>
                <a:ea typeface="Calibri" pitchFamily="34" charset="-122"/>
                <a:cs typeface="Calibri" pitchFamily="34" charset="-120"/>
              </a:rPr>
              <a:t>5 records  ·  21.2 days  ·  84.2% on-time</a:t>
            </a:r>
            <a:endParaRPr lang="en-US" sz="1050" dirty="0"/>
          </a:p>
        </p:txBody>
      </p:sp>
      <p:sp>
        <p:nvSpPr>
          <p:cNvPr id="23" name="Text 20"/>
          <p:cNvSpPr/>
          <p:nvPr/>
        </p:nvSpPr>
        <p:spPr>
          <a:xfrm>
            <a:off x="6428232" y="5358384"/>
            <a:ext cx="4937760" cy="566928"/>
          </a:xfrm>
          <a:prstGeom prst="rect">
            <a:avLst/>
          </a:prstGeom>
          <a:noFill/>
          <a:ln/>
        </p:spPr>
        <p:txBody>
          <a:bodyPr wrap="square" rtlCol="0" anchor="ctr"/>
          <a:lstStyle/>
          <a:p>
            <a:pPr marL="0" indent="0">
              <a:lnSpc>
                <a:spcPts val="1250"/>
              </a:lnSpc>
              <a:buNone/>
            </a:pPr>
            <a:r>
              <a:rPr lang="en-US" sz="1050" dirty="0">
                <a:solidFill>
                  <a:srgbClr val="5C6675"/>
                </a:solidFill>
                <a:latin typeface="Calibri" pitchFamily="34" charset="0"/>
                <a:ea typeface="Calibri" pitchFamily="34" charset="-122"/>
                <a:cs typeface="Calibri" pitchFamily="34" charset="-120"/>
              </a:rPr>
              <a:t>Lowest on-time delivery among delayed components, indicating recurring schedule-adherence risk across multiple suppliers.</a:t>
            </a:r>
            <a:endParaRPr lang="en-US" sz="1050" dirty="0"/>
          </a:p>
        </p:txBody>
      </p:sp>
      <p:sp>
        <p:nvSpPr>
          <p:cNvPr id="24" name="Text 21"/>
          <p:cNvSpPr/>
          <p:nvPr/>
        </p:nvSpPr>
        <p:spPr>
          <a:xfrm>
            <a:off x="502920" y="6455664"/>
            <a:ext cx="6400800" cy="274320"/>
          </a:xfrm>
          <a:prstGeom prst="rect">
            <a:avLst/>
          </a:prstGeom>
          <a:noFill/>
          <a:ln/>
        </p:spPr>
        <p:txBody>
          <a:bodyPr wrap="square" rtlCol="0" anchor="ctr"/>
          <a:lstStyle/>
          <a:p>
            <a:pPr marL="0" indent="0">
              <a:buNone/>
            </a:pPr>
            <a:r>
              <a:rPr lang="en-US" sz="850" dirty="0">
                <a:solidFill>
                  <a:srgbClr val="5C6675"/>
                </a:solidFill>
                <a:latin typeface="Calibri" pitchFamily="34" charset="0"/>
                <a:ea typeface="Calibri" pitchFamily="34" charset="-122"/>
                <a:cs typeface="Calibri" pitchFamily="34" charset="-120"/>
              </a:rPr>
              <a:t>Supply Chain Issue Compliance Report</a:t>
            </a:r>
            <a:endParaRPr lang="en-US" sz="850" dirty="0"/>
          </a:p>
        </p:txBody>
      </p:sp>
      <p:sp>
        <p:nvSpPr>
          <p:cNvPr id="25" name="Text 22"/>
          <p:cNvSpPr/>
          <p:nvPr/>
        </p:nvSpPr>
        <p:spPr>
          <a:xfrm>
            <a:off x="5486400" y="6455664"/>
            <a:ext cx="4846320" cy="274320"/>
          </a:xfrm>
          <a:prstGeom prst="rect">
            <a:avLst/>
          </a:prstGeom>
          <a:noFill/>
          <a:ln/>
        </p:spPr>
        <p:txBody>
          <a:bodyPr wrap="square" rtlCol="0" anchor="ctr"/>
          <a:lstStyle/>
          <a:p>
            <a:pPr marL="0" indent="0" algn="r">
              <a:buNone/>
            </a:pPr>
            <a:r>
              <a:rPr lang="en-US" sz="850" dirty="0">
                <a:solidFill>
                  <a:srgbClr val="5C6675"/>
                </a:solidFill>
                <a:latin typeface="Calibri" pitchFamily="34" charset="0"/>
                <a:ea typeface="Calibri" pitchFamily="34" charset="-122"/>
                <a:cs typeface="Calibri" pitchFamily="34" charset="-120"/>
              </a:rPr>
              <a:t>50 component records  ·  5 suppliers  ·  July 2026</a:t>
            </a:r>
            <a:endParaRPr lang="en-US" sz="850" dirty="0"/>
          </a:p>
        </p:txBody>
      </p:sp>
      <p:sp>
        <p:nvSpPr>
          <p:cNvPr id="26" name="Text 23"/>
          <p:cNvSpPr/>
          <p:nvPr/>
        </p:nvSpPr>
        <p:spPr>
          <a:xfrm>
            <a:off x="11475720" y="6419088"/>
            <a:ext cx="365760" cy="292608"/>
          </a:xfrm>
          <a:prstGeom prst="rect">
            <a:avLst/>
          </a:prstGeom>
          <a:noFill/>
          <a:ln/>
        </p:spPr>
        <p:txBody>
          <a:bodyPr wrap="square" rtlCol="0" anchor="ctr"/>
          <a:lstStyle/>
          <a:p>
            <a:pPr marL="0" indent="0" algn="r">
              <a:buNone/>
            </a:pPr>
            <a:r>
              <a:rPr lang="en-US" sz="900" b="1" dirty="0">
                <a:solidFill>
                  <a:srgbClr val="5A6E8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6233B"/>
          </a:solidFill>
          <a:ln/>
        </p:spPr>
        <p:txBody>
          <a:bodyPr/>
          <a:lstStyle/>
          <a:p>
            <a:endParaRPr lang="en-US"/>
          </a:p>
        </p:txBody>
      </p:sp>
      <p:sp>
        <p:nvSpPr>
          <p:cNvPr id="3" name="Shape 1"/>
          <p:cNvSpPr/>
          <p:nvPr/>
        </p:nvSpPr>
        <p:spPr>
          <a:xfrm>
            <a:off x="0" y="1051560"/>
            <a:ext cx="12161520" cy="54864"/>
          </a:xfrm>
          <a:prstGeom prst="rect">
            <a:avLst/>
          </a:prstGeom>
          <a:solidFill>
            <a:srgbClr val="5A6E88"/>
          </a:solidFill>
          <a:ln/>
        </p:spPr>
        <p:txBody>
          <a:bodyPr/>
          <a:lstStyle/>
          <a:p>
            <a:endParaRPr lang="en-US"/>
          </a:p>
        </p:txBody>
      </p:sp>
      <p:sp>
        <p:nvSpPr>
          <p:cNvPr id="4" name="Shape 2"/>
          <p:cNvSpPr/>
          <p:nvPr/>
        </p:nvSpPr>
        <p:spPr>
          <a:xfrm>
            <a:off x="502920" y="310896"/>
            <a:ext cx="128016" cy="457200"/>
          </a:xfrm>
          <a:prstGeom prst="rect">
            <a:avLst/>
          </a:prstGeom>
          <a:solidFill>
            <a:srgbClr val="5A6E88"/>
          </a:solidFill>
          <a:ln/>
        </p:spPr>
        <p:txBody>
          <a:bodyPr/>
          <a:lstStyle/>
          <a:p>
            <a:endParaRPr lang="en-US"/>
          </a:p>
        </p:txBody>
      </p:sp>
      <p:sp>
        <p:nvSpPr>
          <p:cNvPr id="5" name="Text 3"/>
          <p:cNvSpPr/>
          <p:nvPr/>
        </p:nvSpPr>
        <p:spPr>
          <a:xfrm>
            <a:off x="777240" y="256032"/>
            <a:ext cx="8686800" cy="219456"/>
          </a:xfrm>
          <a:prstGeom prst="rect">
            <a:avLst/>
          </a:prstGeom>
          <a:noFill/>
          <a:ln/>
        </p:spPr>
        <p:txBody>
          <a:bodyPr wrap="square" rtlCol="0" anchor="ctr"/>
          <a:lstStyle/>
          <a:p>
            <a:pPr marL="0" indent="0">
              <a:buNone/>
            </a:pPr>
            <a:r>
              <a:rPr lang="en-US" sz="1050" b="1" kern="0" spc="300">
                <a:solidFill>
                  <a:srgbClr val="C9D6E8"/>
                </a:solidFill>
                <a:latin typeface="Calibri" pitchFamily="34" charset="0"/>
                <a:ea typeface="Calibri" pitchFamily="34" charset="-122"/>
                <a:cs typeface="Calibri" pitchFamily="34" charset="-120"/>
              </a:rPr>
              <a:t>EXCEL DATA ANALYSIS FINDINGS</a:t>
            </a:r>
            <a:endParaRPr lang="en-US" sz="1050" dirty="0"/>
          </a:p>
        </p:txBody>
      </p:sp>
      <p:sp>
        <p:nvSpPr>
          <p:cNvPr id="6" name="Text 4"/>
          <p:cNvSpPr/>
          <p:nvPr/>
        </p:nvSpPr>
        <p:spPr>
          <a:xfrm>
            <a:off x="777240" y="457200"/>
            <a:ext cx="1060704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Reliability and quality vary across the base</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7589520" cy="3090672"/>
        </p:xfrm>
        <a:graphic>
          <a:graphicData uri="http://schemas.openxmlformats.org/drawingml/2006/table">
            <a:tbl>
              <a:tblPr/>
              <a:tblGrid>
                <a:gridCol w="169164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tblGrid>
              <a:tr h="38404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Supplier</a:t>
                      </a:r>
                      <a:endParaRPr lang="en-US" sz="110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1623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Records</a:t>
                      </a:r>
                      <a:endParaRPr lang="en-US" sz="110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1623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On-Time %</a:t>
                      </a:r>
                      <a:endParaRPr lang="en-US" sz="110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1623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Reliability %</a:t>
                      </a:r>
                      <a:endParaRPr lang="en-US" sz="110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1623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Defect %</a:t>
                      </a:r>
                      <a:endParaRPr lang="en-US" sz="110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1623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Avg Days</a:t>
                      </a:r>
                      <a:endParaRPr lang="en-US" sz="110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1623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Quality Pass %</a:t>
                      </a:r>
                      <a:endParaRPr lang="en-US" sz="110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16233B"/>
                    </a:solidFill>
                  </a:tcPr>
                </a:tc>
                <a:extLst>
                  <a:ext uri="{0D108BD9-81ED-4DB2-BD59-A6C34878D82A}">
                    <a16:rowId xmlns:a16="http://schemas.microsoft.com/office/drawing/2014/main" val="10000"/>
                  </a:ext>
                </a:extLst>
              </a:tr>
              <a:tr h="457200">
                <a:tc>
                  <a:txBody>
                    <a:bodyPr/>
                    <a:lstStyle/>
                    <a:p>
                      <a:pPr marL="0" indent="0" algn="l">
                        <a:buNone/>
                      </a:pPr>
                      <a:r>
                        <a:rPr lang="en-US" sz="1150" b="1" dirty="0">
                          <a:solidFill>
                            <a:srgbClr val="16233B"/>
                          </a:solidFill>
                          <a:latin typeface="Calibri" pitchFamily="34" charset="0"/>
                          <a:ea typeface="Calibri" pitchFamily="34" charset="-122"/>
                          <a:cs typeface="Calibri" pitchFamily="34" charset="-120"/>
                        </a:rPr>
                        <a:t>EcoSupply</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B23A3A"/>
                          </a:solidFill>
                          <a:latin typeface="Calibri" pitchFamily="34" charset="0"/>
                          <a:ea typeface="Calibri" pitchFamily="34" charset="-122"/>
                          <a:cs typeface="Calibri" pitchFamily="34" charset="-120"/>
                        </a:rPr>
                        <a:t>87.9</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93.2</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2.50</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15.0</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93.9</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50" b="1" dirty="0">
                          <a:solidFill>
                            <a:srgbClr val="16233B"/>
                          </a:solidFill>
                          <a:latin typeface="Calibri" pitchFamily="34" charset="0"/>
                          <a:ea typeface="Calibri" pitchFamily="34" charset="-122"/>
                          <a:cs typeface="Calibri" pitchFamily="34" charset="-120"/>
                        </a:rPr>
                        <a:t>GlobalChem</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EBF0F6"/>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EBF0F6"/>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90.9</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EBF0F6"/>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92.6</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EBF0F6"/>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2.57</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EBF0F6"/>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16.4</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EBF0F6"/>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94.6</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EBF0F6"/>
                    </a:solidFill>
                  </a:tcPr>
                </a:tc>
                <a:extLst>
                  <a:ext uri="{0D108BD9-81ED-4DB2-BD59-A6C34878D82A}">
                    <a16:rowId xmlns:a16="http://schemas.microsoft.com/office/drawing/2014/main" val="10002"/>
                  </a:ext>
                </a:extLst>
              </a:tr>
              <a:tr h="457200">
                <a:tc>
                  <a:txBody>
                    <a:bodyPr/>
                    <a:lstStyle/>
                    <a:p>
                      <a:pPr marL="0" indent="0" algn="l">
                        <a:buNone/>
                      </a:pPr>
                      <a:r>
                        <a:rPr lang="en-US" sz="1150" b="1" dirty="0">
                          <a:solidFill>
                            <a:srgbClr val="16233B"/>
                          </a:solidFill>
                          <a:latin typeface="Calibri" pitchFamily="34" charset="0"/>
                          <a:ea typeface="Calibri" pitchFamily="34" charset="-122"/>
                          <a:cs typeface="Calibri" pitchFamily="34" charset="-120"/>
                        </a:rPr>
                        <a:t>NextGen Pharma</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91.5</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91.8</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2.22</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10.7</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93.7</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50" b="1" dirty="0">
                          <a:solidFill>
                            <a:srgbClr val="16233B"/>
                          </a:solidFill>
                          <a:latin typeface="Calibri" pitchFamily="34" charset="0"/>
                          <a:ea typeface="Calibri" pitchFamily="34" charset="-122"/>
                          <a:cs typeface="Calibri" pitchFamily="34" charset="-120"/>
                        </a:rPr>
                        <a:t>PrimeLogistics</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EBF0F6"/>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EBF0F6"/>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88.0</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EBF0F6"/>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91.4</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EBF0F6"/>
                    </a:solidFill>
                  </a:tcPr>
                </a:tc>
                <a:tc>
                  <a:txBody>
                    <a:bodyPr/>
                    <a:lstStyle/>
                    <a:p>
                      <a:pPr marL="0" indent="0" algn="ctr">
                        <a:buNone/>
                      </a:pPr>
                      <a:r>
                        <a:rPr lang="en-US" sz="1150" b="1" dirty="0">
                          <a:solidFill>
                            <a:srgbClr val="B23A3A"/>
                          </a:solidFill>
                          <a:latin typeface="Calibri" pitchFamily="34" charset="0"/>
                          <a:ea typeface="Calibri" pitchFamily="34" charset="-122"/>
                          <a:cs typeface="Calibri" pitchFamily="34" charset="-120"/>
                        </a:rPr>
                        <a:t>2.89</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EBF0F6"/>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11.0</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EBF0F6"/>
                    </a:solidFill>
                  </a:tcPr>
                </a:tc>
                <a:tc>
                  <a:txBody>
                    <a:bodyPr/>
                    <a:lstStyle/>
                    <a:p>
                      <a:pPr marL="0" indent="0" algn="ctr">
                        <a:buNone/>
                      </a:pPr>
                      <a:r>
                        <a:rPr lang="en-US" sz="1150" b="1" dirty="0">
                          <a:solidFill>
                            <a:srgbClr val="B23A3A"/>
                          </a:solidFill>
                          <a:latin typeface="Calibri" pitchFamily="34" charset="0"/>
                          <a:ea typeface="Calibri" pitchFamily="34" charset="-122"/>
                          <a:cs typeface="Calibri" pitchFamily="34" charset="-120"/>
                        </a:rPr>
                        <a:t>92.4</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EBF0F6"/>
                    </a:solidFill>
                  </a:tcPr>
                </a:tc>
                <a:extLst>
                  <a:ext uri="{0D108BD9-81ED-4DB2-BD59-A6C34878D82A}">
                    <a16:rowId xmlns:a16="http://schemas.microsoft.com/office/drawing/2014/main" val="10004"/>
                  </a:ext>
                </a:extLst>
              </a:tr>
              <a:tr h="457200">
                <a:tc>
                  <a:txBody>
                    <a:bodyPr/>
                    <a:lstStyle/>
                    <a:p>
                      <a:pPr marL="0" indent="0" algn="l">
                        <a:buNone/>
                      </a:pPr>
                      <a:r>
                        <a:rPr lang="en-US" sz="1150" b="1" dirty="0">
                          <a:solidFill>
                            <a:srgbClr val="16233B"/>
                          </a:solidFill>
                          <a:latin typeface="Calibri" pitchFamily="34" charset="0"/>
                          <a:ea typeface="Calibri" pitchFamily="34" charset="-122"/>
                          <a:cs typeface="Calibri" pitchFamily="34" charset="-120"/>
                        </a:rPr>
                        <a:t>RawMatPlus</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90.6</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92.8</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2.60</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14.2</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333"/>
                          </a:solidFill>
                          <a:latin typeface="Calibri" pitchFamily="34" charset="0"/>
                          <a:ea typeface="Calibri" pitchFamily="34" charset="-122"/>
                          <a:cs typeface="Calibri" pitchFamily="34" charset="-120"/>
                        </a:rPr>
                        <a:t>94.2</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Overall avg</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3C4E6B"/>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3C4E6B"/>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89.8</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3C4E6B"/>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92.4</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3C4E6B"/>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2.55</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3C4E6B"/>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13.5</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3C4E6B"/>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93.8</a:t>
                      </a:r>
                      <a:endParaRPr lang="en-US" sz="1150" dirty="0">
                        <a:latin typeface="Calibri" charset="0"/>
                        <a:ea typeface="Calibri" charset="0"/>
                        <a:cs typeface="Calibri" charset="0"/>
                      </a:endParaRPr>
                    </a:p>
                  </a:txBody>
                  <a:tcPr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3C4E6B"/>
                    </a:solidFill>
                  </a:tcPr>
                </a:tc>
                <a:extLst>
                  <a:ext uri="{0D108BD9-81ED-4DB2-BD59-A6C34878D82A}">
                    <a16:rowId xmlns:a16="http://schemas.microsoft.com/office/drawing/2014/main" val="10006"/>
                  </a:ext>
                </a:extLst>
              </a:tr>
            </a:tbl>
          </a:graphicData>
        </a:graphic>
      </p:graphicFrame>
      <p:sp>
        <p:nvSpPr>
          <p:cNvPr id="8" name="Text 5"/>
          <p:cNvSpPr/>
          <p:nvPr/>
        </p:nvSpPr>
        <p:spPr>
          <a:xfrm>
            <a:off x="502920" y="5806440"/>
            <a:ext cx="7498080" cy="274320"/>
          </a:xfrm>
          <a:prstGeom prst="rect">
            <a:avLst/>
          </a:prstGeom>
          <a:noFill/>
          <a:ln/>
        </p:spPr>
        <p:txBody>
          <a:bodyPr wrap="square" rtlCol="0" anchor="ctr"/>
          <a:lstStyle/>
          <a:p>
            <a:pPr marL="0" indent="0">
              <a:buNone/>
            </a:pPr>
            <a:r>
              <a:rPr lang="en-US" sz="950" i="1" dirty="0">
                <a:solidFill>
                  <a:srgbClr val="5C6675"/>
                </a:solidFill>
                <a:latin typeface="Calibri" pitchFamily="34" charset="0"/>
                <a:ea typeface="Calibri" pitchFamily="34" charset="-122"/>
                <a:cs typeface="Calibri" pitchFamily="34" charset="-120"/>
              </a:rPr>
              <a:t>Values in red flag the weakest metric in class.</a:t>
            </a:r>
            <a:endParaRPr lang="en-US" sz="950" dirty="0"/>
          </a:p>
        </p:txBody>
      </p:sp>
      <p:sp>
        <p:nvSpPr>
          <p:cNvPr id="9" name="Text 6"/>
          <p:cNvSpPr/>
          <p:nvPr/>
        </p:nvSpPr>
        <p:spPr>
          <a:xfrm>
            <a:off x="8366760" y="1371600"/>
            <a:ext cx="3291840" cy="274320"/>
          </a:xfrm>
          <a:prstGeom prst="rect">
            <a:avLst/>
          </a:prstGeom>
          <a:noFill/>
          <a:ln/>
        </p:spPr>
        <p:txBody>
          <a:bodyPr wrap="square" rtlCol="0" anchor="ctr"/>
          <a:lstStyle/>
          <a:p>
            <a:pPr marL="0" indent="0">
              <a:buNone/>
            </a:pPr>
            <a:r>
              <a:rPr lang="en-US" sz="1100" b="1" kern="0" spc="200" dirty="0">
                <a:solidFill>
                  <a:srgbClr val="16233B"/>
                </a:solidFill>
                <a:latin typeface="Calibri" pitchFamily="34" charset="0"/>
                <a:ea typeface="Calibri" pitchFamily="34" charset="-122"/>
                <a:cs typeface="Calibri" pitchFamily="34" charset="-120"/>
              </a:rPr>
              <a:t>SUPPLIERS TO WATCH</a:t>
            </a:r>
            <a:endParaRPr lang="en-US" sz="1100" dirty="0"/>
          </a:p>
        </p:txBody>
      </p:sp>
      <p:sp>
        <p:nvSpPr>
          <p:cNvPr id="10" name="Shape 7"/>
          <p:cNvSpPr/>
          <p:nvPr/>
        </p:nvSpPr>
        <p:spPr>
          <a:xfrm>
            <a:off x="8366760" y="1737360"/>
            <a:ext cx="3291840" cy="2148840"/>
          </a:xfrm>
          <a:prstGeom prst="rect">
            <a:avLst/>
          </a:prstGeom>
          <a:solidFill>
            <a:srgbClr val="16233B"/>
          </a:solidFill>
          <a:ln/>
          <a:effectLst>
            <a:outerShdw blurRad="114300" dist="38100" dir="5400000" algn="bl" rotWithShape="0">
              <a:srgbClr val="0B1320">
                <a:alpha val="16000"/>
              </a:srgbClr>
            </a:outerShdw>
          </a:effectLst>
        </p:spPr>
        <p:txBody>
          <a:bodyPr/>
          <a:lstStyle/>
          <a:p>
            <a:endParaRPr lang="en-US"/>
          </a:p>
        </p:txBody>
      </p:sp>
      <p:sp>
        <p:nvSpPr>
          <p:cNvPr id="11" name="Shape 8"/>
          <p:cNvSpPr/>
          <p:nvPr/>
        </p:nvSpPr>
        <p:spPr>
          <a:xfrm>
            <a:off x="8366760" y="1737360"/>
            <a:ext cx="3291840" cy="91440"/>
          </a:xfrm>
          <a:prstGeom prst="rect">
            <a:avLst/>
          </a:prstGeom>
          <a:solidFill>
            <a:srgbClr val="B23A3A"/>
          </a:solidFill>
          <a:ln/>
        </p:spPr>
        <p:txBody>
          <a:bodyPr/>
          <a:lstStyle/>
          <a:p>
            <a:endParaRPr lang="en-US"/>
          </a:p>
        </p:txBody>
      </p:sp>
      <p:sp>
        <p:nvSpPr>
          <p:cNvPr id="12" name="Text 9"/>
          <p:cNvSpPr/>
          <p:nvPr/>
        </p:nvSpPr>
        <p:spPr>
          <a:xfrm>
            <a:off x="8622792" y="1993392"/>
            <a:ext cx="2834640"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EcoSupply</a:t>
            </a:r>
            <a:endParaRPr lang="en-US" sz="1800" dirty="0"/>
          </a:p>
        </p:txBody>
      </p:sp>
      <p:sp>
        <p:nvSpPr>
          <p:cNvPr id="13" name="Text 10"/>
          <p:cNvSpPr/>
          <p:nvPr/>
        </p:nvSpPr>
        <p:spPr>
          <a:xfrm>
            <a:off x="8622792" y="2450592"/>
            <a:ext cx="2834640" cy="274320"/>
          </a:xfrm>
          <a:prstGeom prst="rect">
            <a:avLst/>
          </a:prstGeom>
          <a:noFill/>
          <a:ln/>
        </p:spPr>
        <p:txBody>
          <a:bodyPr wrap="square" rtlCol="0" anchor="ctr"/>
          <a:lstStyle/>
          <a:p>
            <a:pPr marL="0" indent="0">
              <a:buNone/>
            </a:pPr>
            <a:r>
              <a:rPr lang="en-US" sz="1000" b="1" kern="0" spc="100" dirty="0">
                <a:solidFill>
                  <a:srgbClr val="B23A3A"/>
                </a:solidFill>
                <a:latin typeface="Calibri" pitchFamily="34" charset="0"/>
                <a:ea typeface="Calibri" pitchFamily="34" charset="-122"/>
                <a:cs typeface="Calibri" pitchFamily="34" charset="-120"/>
              </a:rPr>
              <a:t>LOWEST ON-TIME DELIVERY</a:t>
            </a:r>
            <a:endParaRPr lang="en-US" sz="1000" dirty="0"/>
          </a:p>
        </p:txBody>
      </p:sp>
      <p:sp>
        <p:nvSpPr>
          <p:cNvPr id="14" name="Text 11"/>
          <p:cNvSpPr/>
          <p:nvPr/>
        </p:nvSpPr>
        <p:spPr>
          <a:xfrm>
            <a:off x="8622792" y="2761488"/>
            <a:ext cx="2788920" cy="1005840"/>
          </a:xfrm>
          <a:prstGeom prst="rect">
            <a:avLst/>
          </a:prstGeom>
          <a:noFill/>
          <a:ln/>
        </p:spPr>
        <p:txBody>
          <a:bodyPr wrap="square" rtlCol="0" anchor="ctr"/>
          <a:lstStyle/>
          <a:p>
            <a:pPr marL="0" indent="0">
              <a:lnSpc>
                <a:spcPts val="1400"/>
              </a:lnSpc>
              <a:buNone/>
            </a:pPr>
            <a:r>
              <a:rPr lang="en-US" sz="1100" dirty="0">
                <a:solidFill>
                  <a:srgbClr val="C9D6E8"/>
                </a:solidFill>
                <a:latin typeface="Calibri" pitchFamily="34" charset="0"/>
                <a:ea typeface="Calibri" pitchFamily="34" charset="-122"/>
                <a:cs typeface="Calibri" pitchFamily="34" charset="-120"/>
              </a:rPr>
              <a:t>87.9% on-time across 10 records — the weakest fulfillment reliability in the supplier base.</a:t>
            </a:r>
            <a:endParaRPr lang="en-US" sz="1100" dirty="0"/>
          </a:p>
        </p:txBody>
      </p:sp>
      <p:sp>
        <p:nvSpPr>
          <p:cNvPr id="15" name="Shape 12"/>
          <p:cNvSpPr/>
          <p:nvPr/>
        </p:nvSpPr>
        <p:spPr>
          <a:xfrm>
            <a:off x="8366760" y="4114800"/>
            <a:ext cx="3291840" cy="2148840"/>
          </a:xfrm>
          <a:prstGeom prst="rect">
            <a:avLst/>
          </a:prstGeom>
          <a:solidFill>
            <a:srgbClr val="16233B"/>
          </a:solidFill>
          <a:ln/>
          <a:effectLst>
            <a:outerShdw blurRad="114300" dist="38100" dir="5400000" algn="bl" rotWithShape="0">
              <a:srgbClr val="0B1320">
                <a:alpha val="16000"/>
              </a:srgbClr>
            </a:outerShdw>
          </a:effectLst>
        </p:spPr>
        <p:txBody>
          <a:bodyPr/>
          <a:lstStyle/>
          <a:p>
            <a:endParaRPr lang="en-US"/>
          </a:p>
        </p:txBody>
      </p:sp>
      <p:sp>
        <p:nvSpPr>
          <p:cNvPr id="16" name="Shape 13"/>
          <p:cNvSpPr/>
          <p:nvPr/>
        </p:nvSpPr>
        <p:spPr>
          <a:xfrm>
            <a:off x="8366760" y="4114800"/>
            <a:ext cx="3291840" cy="91440"/>
          </a:xfrm>
          <a:prstGeom prst="rect">
            <a:avLst/>
          </a:prstGeom>
          <a:solidFill>
            <a:srgbClr val="C4842B"/>
          </a:solidFill>
          <a:ln/>
        </p:spPr>
        <p:txBody>
          <a:bodyPr/>
          <a:lstStyle/>
          <a:p>
            <a:endParaRPr lang="en-US"/>
          </a:p>
        </p:txBody>
      </p:sp>
      <p:sp>
        <p:nvSpPr>
          <p:cNvPr id="17" name="Text 14"/>
          <p:cNvSpPr/>
          <p:nvPr/>
        </p:nvSpPr>
        <p:spPr>
          <a:xfrm>
            <a:off x="8622792" y="4370832"/>
            <a:ext cx="2834640"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PrimeLogistics</a:t>
            </a:r>
            <a:endParaRPr lang="en-US" sz="1800" dirty="0"/>
          </a:p>
        </p:txBody>
      </p:sp>
      <p:sp>
        <p:nvSpPr>
          <p:cNvPr id="18" name="Text 15"/>
          <p:cNvSpPr/>
          <p:nvPr/>
        </p:nvSpPr>
        <p:spPr>
          <a:xfrm>
            <a:off x="8622792" y="4828032"/>
            <a:ext cx="2834640" cy="274320"/>
          </a:xfrm>
          <a:prstGeom prst="rect">
            <a:avLst/>
          </a:prstGeom>
          <a:noFill/>
          <a:ln/>
        </p:spPr>
        <p:txBody>
          <a:bodyPr wrap="square" rtlCol="0" anchor="ctr"/>
          <a:lstStyle/>
          <a:p>
            <a:pPr marL="0" indent="0">
              <a:buNone/>
            </a:pPr>
            <a:r>
              <a:rPr lang="en-US" sz="1000" b="1" kern="0" spc="100" dirty="0">
                <a:solidFill>
                  <a:srgbClr val="C4842B"/>
                </a:solidFill>
                <a:latin typeface="Calibri" pitchFamily="34" charset="0"/>
                <a:ea typeface="Calibri" pitchFamily="34" charset="-122"/>
                <a:cs typeface="Calibri" pitchFamily="34" charset="-120"/>
              </a:rPr>
              <a:t>HIGHEST DEFECT RATE</a:t>
            </a:r>
            <a:endParaRPr lang="en-US" sz="1000" dirty="0"/>
          </a:p>
        </p:txBody>
      </p:sp>
      <p:sp>
        <p:nvSpPr>
          <p:cNvPr id="19" name="Text 16"/>
          <p:cNvSpPr/>
          <p:nvPr/>
        </p:nvSpPr>
        <p:spPr>
          <a:xfrm>
            <a:off x="8622792" y="5138928"/>
            <a:ext cx="2788920" cy="1005840"/>
          </a:xfrm>
          <a:prstGeom prst="rect">
            <a:avLst/>
          </a:prstGeom>
          <a:noFill/>
          <a:ln/>
        </p:spPr>
        <p:txBody>
          <a:bodyPr wrap="square" rtlCol="0" anchor="ctr"/>
          <a:lstStyle/>
          <a:p>
            <a:pPr marL="0" indent="0">
              <a:lnSpc>
                <a:spcPts val="1400"/>
              </a:lnSpc>
              <a:buNone/>
            </a:pPr>
            <a:r>
              <a:rPr lang="en-US" sz="1100" dirty="0">
                <a:solidFill>
                  <a:srgbClr val="C9D6E8"/>
                </a:solidFill>
                <a:latin typeface="Calibri" pitchFamily="34" charset="0"/>
                <a:ea typeface="Calibri" pitchFamily="34" charset="-122"/>
                <a:cs typeface="Calibri" pitchFamily="34" charset="-120"/>
              </a:rPr>
              <a:t>2.89% defect rate and 92.4% quality pass — the lowest quality performance, signaling a supplier quality-management gap.</a:t>
            </a:r>
            <a:endParaRPr lang="en-US" sz="1100" dirty="0"/>
          </a:p>
        </p:txBody>
      </p:sp>
      <p:sp>
        <p:nvSpPr>
          <p:cNvPr id="20" name="Text 17"/>
          <p:cNvSpPr/>
          <p:nvPr/>
        </p:nvSpPr>
        <p:spPr>
          <a:xfrm>
            <a:off x="502920" y="6455664"/>
            <a:ext cx="6400800" cy="274320"/>
          </a:xfrm>
          <a:prstGeom prst="rect">
            <a:avLst/>
          </a:prstGeom>
          <a:noFill/>
          <a:ln/>
        </p:spPr>
        <p:txBody>
          <a:bodyPr wrap="square" rtlCol="0" anchor="ctr"/>
          <a:lstStyle/>
          <a:p>
            <a:pPr marL="0" indent="0">
              <a:buNone/>
            </a:pPr>
            <a:r>
              <a:rPr lang="en-US" sz="850" dirty="0">
                <a:solidFill>
                  <a:srgbClr val="5C6675"/>
                </a:solidFill>
                <a:latin typeface="Calibri" pitchFamily="34" charset="0"/>
                <a:ea typeface="Calibri" pitchFamily="34" charset="-122"/>
                <a:cs typeface="Calibri" pitchFamily="34" charset="-120"/>
              </a:rPr>
              <a:t>Supply Chain Issue Compliance Report</a:t>
            </a:r>
            <a:endParaRPr lang="en-US" sz="850" dirty="0"/>
          </a:p>
        </p:txBody>
      </p:sp>
      <p:sp>
        <p:nvSpPr>
          <p:cNvPr id="21" name="Text 18"/>
          <p:cNvSpPr/>
          <p:nvPr/>
        </p:nvSpPr>
        <p:spPr>
          <a:xfrm>
            <a:off x="5486400" y="6455664"/>
            <a:ext cx="4846320" cy="274320"/>
          </a:xfrm>
          <a:prstGeom prst="rect">
            <a:avLst/>
          </a:prstGeom>
          <a:noFill/>
          <a:ln/>
        </p:spPr>
        <p:txBody>
          <a:bodyPr wrap="square" rtlCol="0" anchor="ctr"/>
          <a:lstStyle/>
          <a:p>
            <a:pPr marL="0" indent="0" algn="r">
              <a:buNone/>
            </a:pPr>
            <a:r>
              <a:rPr lang="en-US" sz="850" dirty="0">
                <a:solidFill>
                  <a:srgbClr val="5C6675"/>
                </a:solidFill>
                <a:latin typeface="Calibri" pitchFamily="34" charset="0"/>
                <a:ea typeface="Calibri" pitchFamily="34" charset="-122"/>
                <a:cs typeface="Calibri" pitchFamily="34" charset="-120"/>
              </a:rPr>
              <a:t>50 component records  ·  5 suppliers  ·  July 2026</a:t>
            </a:r>
            <a:endParaRPr lang="en-US" sz="850" dirty="0"/>
          </a:p>
        </p:txBody>
      </p:sp>
      <p:sp>
        <p:nvSpPr>
          <p:cNvPr id="22" name="Text 19"/>
          <p:cNvSpPr/>
          <p:nvPr/>
        </p:nvSpPr>
        <p:spPr>
          <a:xfrm>
            <a:off x="11475720" y="6419088"/>
            <a:ext cx="365760" cy="292608"/>
          </a:xfrm>
          <a:prstGeom prst="rect">
            <a:avLst/>
          </a:prstGeom>
          <a:noFill/>
          <a:ln/>
        </p:spPr>
        <p:txBody>
          <a:bodyPr wrap="square" rtlCol="0" anchor="ctr"/>
          <a:lstStyle/>
          <a:p>
            <a:pPr marL="0" indent="0" algn="r">
              <a:buNone/>
            </a:pPr>
            <a:r>
              <a:rPr lang="en-US" sz="900" b="1" dirty="0">
                <a:solidFill>
                  <a:srgbClr val="5A6E8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33B"/>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E2E4A"/>
          </a:solidFill>
          <a:ln/>
        </p:spPr>
        <p:txBody>
          <a:bodyPr/>
          <a:lstStyle/>
          <a:p>
            <a:endParaRPr lang="en-US"/>
          </a:p>
        </p:txBody>
      </p:sp>
      <p:sp>
        <p:nvSpPr>
          <p:cNvPr id="3" name="Shape 1"/>
          <p:cNvSpPr/>
          <p:nvPr/>
        </p:nvSpPr>
        <p:spPr>
          <a:xfrm>
            <a:off x="0" y="1051560"/>
            <a:ext cx="12161520" cy="54864"/>
          </a:xfrm>
          <a:prstGeom prst="rect">
            <a:avLst/>
          </a:prstGeom>
          <a:solidFill>
            <a:srgbClr val="5A6E88"/>
          </a:solidFill>
          <a:ln/>
        </p:spPr>
        <p:txBody>
          <a:bodyPr/>
          <a:lstStyle/>
          <a:p>
            <a:endParaRPr lang="en-US"/>
          </a:p>
        </p:txBody>
      </p:sp>
      <p:sp>
        <p:nvSpPr>
          <p:cNvPr id="4" name="Shape 2"/>
          <p:cNvSpPr/>
          <p:nvPr/>
        </p:nvSpPr>
        <p:spPr>
          <a:xfrm>
            <a:off x="502920" y="310896"/>
            <a:ext cx="128016" cy="457200"/>
          </a:xfrm>
          <a:prstGeom prst="rect">
            <a:avLst/>
          </a:prstGeom>
          <a:solidFill>
            <a:srgbClr val="5A6E88"/>
          </a:solidFill>
          <a:ln/>
        </p:spPr>
        <p:txBody>
          <a:bodyPr/>
          <a:lstStyle/>
          <a:p>
            <a:endParaRPr lang="en-US"/>
          </a:p>
        </p:txBody>
      </p:sp>
      <p:sp>
        <p:nvSpPr>
          <p:cNvPr id="5" name="Text 3"/>
          <p:cNvSpPr/>
          <p:nvPr/>
        </p:nvSpPr>
        <p:spPr>
          <a:xfrm>
            <a:off x="777240" y="256032"/>
            <a:ext cx="8229600" cy="219456"/>
          </a:xfrm>
          <a:prstGeom prst="rect">
            <a:avLst/>
          </a:prstGeom>
          <a:noFill/>
          <a:ln/>
        </p:spPr>
        <p:txBody>
          <a:bodyPr wrap="square" rtlCol="0" anchor="ctr"/>
          <a:lstStyle/>
          <a:p>
            <a:pPr marL="0" indent="0">
              <a:buNone/>
            </a:pPr>
            <a:r>
              <a:rPr lang="en-US" sz="1050" b="1" kern="0" spc="300">
                <a:solidFill>
                  <a:srgbClr val="C9D6E8"/>
                </a:solidFill>
                <a:latin typeface="Calibri" pitchFamily="34" charset="0"/>
                <a:ea typeface="Calibri" pitchFamily="34" charset="-122"/>
                <a:cs typeface="Calibri" pitchFamily="34" charset="-120"/>
              </a:rPr>
              <a:t>EXCEL DATA ANALYSIS FINDINGS</a:t>
            </a:r>
            <a:endParaRPr lang="en-US" sz="1050" dirty="0"/>
          </a:p>
        </p:txBody>
      </p:sp>
      <p:sp>
        <p:nvSpPr>
          <p:cNvPr id="6" name="Text 4"/>
          <p:cNvSpPr/>
          <p:nvPr/>
        </p:nvSpPr>
        <p:spPr>
          <a:xfrm>
            <a:off x="777240" y="457200"/>
            <a:ext cx="1060704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How these issues create compliance risk</a:t>
            </a:r>
            <a:endParaRPr lang="en-US" sz="2400" dirty="0"/>
          </a:p>
        </p:txBody>
      </p:sp>
      <p:sp>
        <p:nvSpPr>
          <p:cNvPr id="7" name="Shape 5"/>
          <p:cNvSpPr/>
          <p:nvPr/>
        </p:nvSpPr>
        <p:spPr>
          <a:xfrm>
            <a:off x="548640" y="1417320"/>
            <a:ext cx="5486400" cy="2148840"/>
          </a:xfrm>
          <a:prstGeom prst="rect">
            <a:avLst/>
          </a:prstGeom>
          <a:solidFill>
            <a:srgbClr val="FFFFFF"/>
          </a:solidFill>
          <a:ln/>
          <a:effectLst>
            <a:outerShdw blurRad="114300" dist="38100" dir="5400000" algn="bl" rotWithShape="0">
              <a:srgbClr val="0B1320">
                <a:alpha val="16000"/>
              </a:srgbClr>
            </a:outerShdw>
          </a:effectLst>
        </p:spPr>
        <p:txBody>
          <a:bodyPr/>
          <a:lstStyle/>
          <a:p>
            <a:endParaRPr lang="en-US"/>
          </a:p>
        </p:txBody>
      </p:sp>
      <p:sp>
        <p:nvSpPr>
          <p:cNvPr id="8" name="Shape 6"/>
          <p:cNvSpPr/>
          <p:nvPr/>
        </p:nvSpPr>
        <p:spPr>
          <a:xfrm>
            <a:off x="548640" y="1417320"/>
            <a:ext cx="118872" cy="2148840"/>
          </a:xfrm>
          <a:prstGeom prst="rect">
            <a:avLst/>
          </a:prstGeom>
          <a:solidFill>
            <a:srgbClr val="B23A3A"/>
          </a:solidFill>
          <a:ln/>
        </p:spPr>
        <p:txBody>
          <a:bodyPr/>
          <a:lstStyle/>
          <a:p>
            <a:endParaRPr lang="en-US"/>
          </a:p>
        </p:txBody>
      </p:sp>
      <p:sp>
        <p:nvSpPr>
          <p:cNvPr id="9" name="Shape 7"/>
          <p:cNvSpPr/>
          <p:nvPr/>
        </p:nvSpPr>
        <p:spPr>
          <a:xfrm>
            <a:off x="868680" y="1737360"/>
            <a:ext cx="566928" cy="566928"/>
          </a:xfrm>
          <a:prstGeom prst="ellipse">
            <a:avLst/>
          </a:prstGeom>
          <a:solidFill>
            <a:srgbClr val="B23A3A"/>
          </a:solidFill>
          <a:ln/>
        </p:spPr>
        <p:txBody>
          <a:bodyPr/>
          <a:lstStyle/>
          <a:p>
            <a:endParaRPr lang="en-US"/>
          </a:p>
        </p:txBody>
      </p:sp>
      <p:sp>
        <p:nvSpPr>
          <p:cNvPr id="10" name="Text 8"/>
          <p:cNvSpPr/>
          <p:nvPr/>
        </p:nvSpPr>
        <p:spPr>
          <a:xfrm>
            <a:off x="868680" y="1737360"/>
            <a:ext cx="566928" cy="56692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1" name="Text 9"/>
          <p:cNvSpPr/>
          <p:nvPr/>
        </p:nvSpPr>
        <p:spPr>
          <a:xfrm>
            <a:off x="1600200" y="1801368"/>
            <a:ext cx="4206240" cy="457200"/>
          </a:xfrm>
          <a:prstGeom prst="rect">
            <a:avLst/>
          </a:prstGeom>
          <a:noFill/>
          <a:ln/>
        </p:spPr>
        <p:txBody>
          <a:bodyPr wrap="square" rtlCol="0" anchor="ctr"/>
          <a:lstStyle/>
          <a:p>
            <a:pPr marL="0" indent="0">
              <a:buNone/>
            </a:pPr>
            <a:r>
              <a:rPr lang="en-US" sz="1900" b="1" dirty="0">
                <a:solidFill>
                  <a:srgbClr val="16233B"/>
                </a:solidFill>
                <a:latin typeface="Cambria" pitchFamily="34" charset="0"/>
                <a:ea typeface="Cambria" pitchFamily="34" charset="-122"/>
                <a:cs typeface="Cambria" pitchFamily="34" charset="-120"/>
              </a:rPr>
              <a:t>Production continuity</a:t>
            </a:r>
            <a:endParaRPr lang="en-US" sz="1900" dirty="0"/>
          </a:p>
        </p:txBody>
      </p:sp>
      <p:sp>
        <p:nvSpPr>
          <p:cNvPr id="12" name="Text 10"/>
          <p:cNvSpPr/>
          <p:nvPr/>
        </p:nvSpPr>
        <p:spPr>
          <a:xfrm>
            <a:off x="914400" y="2514600"/>
            <a:ext cx="4800600" cy="914400"/>
          </a:xfrm>
          <a:prstGeom prst="rect">
            <a:avLst/>
          </a:prstGeom>
          <a:noFill/>
          <a:ln/>
        </p:spPr>
        <p:txBody>
          <a:bodyPr wrap="square" rtlCol="0" anchor="ctr"/>
          <a:lstStyle/>
          <a:p>
            <a:pPr marL="0" indent="0">
              <a:lnSpc>
                <a:spcPts val="1600"/>
              </a:lnSpc>
              <a:buNone/>
            </a:pPr>
            <a:r>
              <a:rPr lang="en-US" sz="1250" dirty="0">
                <a:solidFill>
                  <a:srgbClr val="5C6675"/>
                </a:solidFill>
                <a:latin typeface="Calibri" pitchFamily="34" charset="0"/>
                <a:ea typeface="Calibri" pitchFamily="34" charset="-122"/>
                <a:cs typeface="Calibri" pitchFamily="34" charset="-120"/>
              </a:rPr>
              <a:t>Longer timelines and backorder volumes disrupt planned schedules and force alternate sourcing or expedited exception decisions.</a:t>
            </a:r>
            <a:endParaRPr lang="en-US" sz="1250" dirty="0"/>
          </a:p>
        </p:txBody>
      </p:sp>
      <p:sp>
        <p:nvSpPr>
          <p:cNvPr id="13" name="Shape 11"/>
          <p:cNvSpPr/>
          <p:nvPr/>
        </p:nvSpPr>
        <p:spPr>
          <a:xfrm>
            <a:off x="6291072" y="1417320"/>
            <a:ext cx="5486400" cy="2148840"/>
          </a:xfrm>
          <a:prstGeom prst="rect">
            <a:avLst/>
          </a:prstGeom>
          <a:solidFill>
            <a:srgbClr val="FFFFFF"/>
          </a:solidFill>
          <a:ln/>
          <a:effectLst>
            <a:outerShdw blurRad="114300" dist="38100" dir="5400000" algn="bl" rotWithShape="0">
              <a:srgbClr val="0B1320">
                <a:alpha val="16000"/>
              </a:srgbClr>
            </a:outerShdw>
          </a:effectLst>
        </p:spPr>
        <p:txBody>
          <a:bodyPr/>
          <a:lstStyle/>
          <a:p>
            <a:endParaRPr lang="en-US"/>
          </a:p>
        </p:txBody>
      </p:sp>
      <p:sp>
        <p:nvSpPr>
          <p:cNvPr id="14" name="Shape 12"/>
          <p:cNvSpPr/>
          <p:nvPr/>
        </p:nvSpPr>
        <p:spPr>
          <a:xfrm>
            <a:off x="6291072" y="1417320"/>
            <a:ext cx="118872" cy="2148840"/>
          </a:xfrm>
          <a:prstGeom prst="rect">
            <a:avLst/>
          </a:prstGeom>
          <a:solidFill>
            <a:srgbClr val="C4842B"/>
          </a:solidFill>
          <a:ln/>
        </p:spPr>
        <p:txBody>
          <a:bodyPr/>
          <a:lstStyle/>
          <a:p>
            <a:endParaRPr lang="en-US"/>
          </a:p>
        </p:txBody>
      </p:sp>
      <p:sp>
        <p:nvSpPr>
          <p:cNvPr id="15" name="Shape 13"/>
          <p:cNvSpPr/>
          <p:nvPr/>
        </p:nvSpPr>
        <p:spPr>
          <a:xfrm>
            <a:off x="6611112" y="1737360"/>
            <a:ext cx="566928" cy="566928"/>
          </a:xfrm>
          <a:prstGeom prst="ellipse">
            <a:avLst/>
          </a:prstGeom>
          <a:solidFill>
            <a:srgbClr val="C4842B"/>
          </a:solidFill>
          <a:ln/>
        </p:spPr>
        <p:txBody>
          <a:bodyPr/>
          <a:lstStyle/>
          <a:p>
            <a:endParaRPr lang="en-US"/>
          </a:p>
        </p:txBody>
      </p:sp>
      <p:sp>
        <p:nvSpPr>
          <p:cNvPr id="16" name="Text 14"/>
          <p:cNvSpPr/>
          <p:nvPr/>
        </p:nvSpPr>
        <p:spPr>
          <a:xfrm>
            <a:off x="6611112" y="1737360"/>
            <a:ext cx="566928" cy="56692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7" name="Text 15"/>
          <p:cNvSpPr/>
          <p:nvPr/>
        </p:nvSpPr>
        <p:spPr>
          <a:xfrm>
            <a:off x="7342632" y="1801368"/>
            <a:ext cx="4206240" cy="457200"/>
          </a:xfrm>
          <a:prstGeom prst="rect">
            <a:avLst/>
          </a:prstGeom>
          <a:noFill/>
          <a:ln/>
        </p:spPr>
        <p:txBody>
          <a:bodyPr wrap="square" rtlCol="0" anchor="ctr"/>
          <a:lstStyle/>
          <a:p>
            <a:pPr marL="0" indent="0">
              <a:buNone/>
            </a:pPr>
            <a:r>
              <a:rPr lang="en-US" sz="1900" b="1" dirty="0">
                <a:solidFill>
                  <a:srgbClr val="16233B"/>
                </a:solidFill>
                <a:latin typeface="Cambria" pitchFamily="34" charset="0"/>
                <a:ea typeface="Cambria" pitchFamily="34" charset="-122"/>
                <a:cs typeface="Cambria" pitchFamily="34" charset="-120"/>
              </a:rPr>
              <a:t>Quality system</a:t>
            </a:r>
            <a:endParaRPr lang="en-US" sz="1900" dirty="0"/>
          </a:p>
        </p:txBody>
      </p:sp>
      <p:sp>
        <p:nvSpPr>
          <p:cNvPr id="18" name="Text 16"/>
          <p:cNvSpPr/>
          <p:nvPr/>
        </p:nvSpPr>
        <p:spPr>
          <a:xfrm>
            <a:off x="6656832" y="2514600"/>
            <a:ext cx="4800600" cy="914400"/>
          </a:xfrm>
          <a:prstGeom prst="rect">
            <a:avLst/>
          </a:prstGeom>
          <a:noFill/>
          <a:ln/>
        </p:spPr>
        <p:txBody>
          <a:bodyPr wrap="square" rtlCol="0" anchor="ctr"/>
          <a:lstStyle/>
          <a:p>
            <a:pPr marL="0" indent="0">
              <a:lnSpc>
                <a:spcPts val="1600"/>
              </a:lnSpc>
              <a:buNone/>
            </a:pPr>
            <a:r>
              <a:rPr lang="en-US" sz="1250" dirty="0">
                <a:solidFill>
                  <a:srgbClr val="5C6675"/>
                </a:solidFill>
                <a:latin typeface="Calibri" pitchFamily="34" charset="0"/>
                <a:ea typeface="Calibri" pitchFamily="34" charset="-122"/>
                <a:cs typeface="Calibri" pitchFamily="34" charset="-120"/>
              </a:rPr>
              <a:t>Elevated defect rates and lower inspection pass rates increase inspection burden, rework, rejection, and deviation activity.</a:t>
            </a:r>
            <a:endParaRPr lang="en-US" sz="1250" dirty="0"/>
          </a:p>
        </p:txBody>
      </p:sp>
      <p:sp>
        <p:nvSpPr>
          <p:cNvPr id="19" name="Shape 17"/>
          <p:cNvSpPr/>
          <p:nvPr/>
        </p:nvSpPr>
        <p:spPr>
          <a:xfrm>
            <a:off x="548640" y="3822192"/>
            <a:ext cx="5486400" cy="2148840"/>
          </a:xfrm>
          <a:prstGeom prst="rect">
            <a:avLst/>
          </a:prstGeom>
          <a:solidFill>
            <a:srgbClr val="FFFFFF"/>
          </a:solidFill>
          <a:ln/>
          <a:effectLst>
            <a:outerShdw blurRad="114300" dist="38100" dir="5400000" algn="bl" rotWithShape="0">
              <a:srgbClr val="0B1320">
                <a:alpha val="16000"/>
              </a:srgbClr>
            </a:outerShdw>
          </a:effectLst>
        </p:spPr>
        <p:txBody>
          <a:bodyPr/>
          <a:lstStyle/>
          <a:p>
            <a:endParaRPr lang="en-US"/>
          </a:p>
        </p:txBody>
      </p:sp>
      <p:sp>
        <p:nvSpPr>
          <p:cNvPr id="20" name="Shape 18"/>
          <p:cNvSpPr/>
          <p:nvPr/>
        </p:nvSpPr>
        <p:spPr>
          <a:xfrm>
            <a:off x="548640" y="3822192"/>
            <a:ext cx="118872" cy="2148840"/>
          </a:xfrm>
          <a:prstGeom prst="rect">
            <a:avLst/>
          </a:prstGeom>
          <a:solidFill>
            <a:srgbClr val="5A6E88"/>
          </a:solidFill>
          <a:ln/>
        </p:spPr>
        <p:txBody>
          <a:bodyPr/>
          <a:lstStyle/>
          <a:p>
            <a:endParaRPr lang="en-US"/>
          </a:p>
        </p:txBody>
      </p:sp>
      <p:sp>
        <p:nvSpPr>
          <p:cNvPr id="21" name="Shape 19"/>
          <p:cNvSpPr/>
          <p:nvPr/>
        </p:nvSpPr>
        <p:spPr>
          <a:xfrm>
            <a:off x="868680" y="4142232"/>
            <a:ext cx="566928" cy="566928"/>
          </a:xfrm>
          <a:prstGeom prst="ellipse">
            <a:avLst/>
          </a:prstGeom>
          <a:solidFill>
            <a:srgbClr val="5A6E88"/>
          </a:solidFill>
          <a:ln/>
        </p:spPr>
        <p:txBody>
          <a:bodyPr/>
          <a:lstStyle/>
          <a:p>
            <a:endParaRPr lang="en-US"/>
          </a:p>
        </p:txBody>
      </p:sp>
      <p:sp>
        <p:nvSpPr>
          <p:cNvPr id="22" name="Text 20"/>
          <p:cNvSpPr/>
          <p:nvPr/>
        </p:nvSpPr>
        <p:spPr>
          <a:xfrm>
            <a:off x="868680" y="4142232"/>
            <a:ext cx="566928" cy="56692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3" name="Text 21"/>
          <p:cNvSpPr/>
          <p:nvPr/>
        </p:nvSpPr>
        <p:spPr>
          <a:xfrm>
            <a:off x="1600200" y="4206240"/>
            <a:ext cx="4206240" cy="457200"/>
          </a:xfrm>
          <a:prstGeom prst="rect">
            <a:avLst/>
          </a:prstGeom>
          <a:noFill/>
          <a:ln/>
        </p:spPr>
        <p:txBody>
          <a:bodyPr wrap="square" rtlCol="0" anchor="ctr"/>
          <a:lstStyle/>
          <a:p>
            <a:pPr marL="0" indent="0">
              <a:buNone/>
            </a:pPr>
            <a:r>
              <a:rPr lang="en-US" sz="1900" b="1" dirty="0">
                <a:solidFill>
                  <a:srgbClr val="16233B"/>
                </a:solidFill>
                <a:latin typeface="Cambria" pitchFamily="34" charset="0"/>
                <a:ea typeface="Cambria" pitchFamily="34" charset="-122"/>
                <a:cs typeface="Cambria" pitchFamily="34" charset="-120"/>
              </a:rPr>
              <a:t>Supplier control</a:t>
            </a:r>
            <a:endParaRPr lang="en-US" sz="1900" dirty="0"/>
          </a:p>
        </p:txBody>
      </p:sp>
      <p:sp>
        <p:nvSpPr>
          <p:cNvPr id="24" name="Text 22"/>
          <p:cNvSpPr/>
          <p:nvPr/>
        </p:nvSpPr>
        <p:spPr>
          <a:xfrm>
            <a:off x="914400" y="4919472"/>
            <a:ext cx="4800600" cy="914400"/>
          </a:xfrm>
          <a:prstGeom prst="rect">
            <a:avLst/>
          </a:prstGeom>
          <a:noFill/>
          <a:ln/>
        </p:spPr>
        <p:txBody>
          <a:bodyPr wrap="square" rtlCol="0" anchor="ctr"/>
          <a:lstStyle/>
          <a:p>
            <a:pPr marL="0" indent="0">
              <a:lnSpc>
                <a:spcPts val="1600"/>
              </a:lnSpc>
              <a:buNone/>
            </a:pPr>
            <a:r>
              <a:rPr lang="en-US" sz="1250" dirty="0">
                <a:solidFill>
                  <a:srgbClr val="5C6675"/>
                </a:solidFill>
                <a:latin typeface="Calibri" pitchFamily="34" charset="0"/>
                <a:ea typeface="Calibri" pitchFamily="34" charset="-122"/>
                <a:cs typeface="Calibri" pitchFamily="34" charset="-120"/>
              </a:rPr>
              <a:t>Suppliers with weaker reliability or on-time trends require added monitoring, contract review, and corrective actions.</a:t>
            </a:r>
            <a:endParaRPr lang="en-US" sz="1250" dirty="0"/>
          </a:p>
        </p:txBody>
      </p:sp>
      <p:sp>
        <p:nvSpPr>
          <p:cNvPr id="25" name="Shape 23"/>
          <p:cNvSpPr/>
          <p:nvPr/>
        </p:nvSpPr>
        <p:spPr>
          <a:xfrm>
            <a:off x="6291072" y="3822192"/>
            <a:ext cx="5486400" cy="2148840"/>
          </a:xfrm>
          <a:prstGeom prst="rect">
            <a:avLst/>
          </a:prstGeom>
          <a:solidFill>
            <a:srgbClr val="FFFFFF"/>
          </a:solidFill>
          <a:ln/>
          <a:effectLst>
            <a:outerShdw blurRad="114300" dist="38100" dir="5400000" algn="bl" rotWithShape="0">
              <a:srgbClr val="0B1320">
                <a:alpha val="16000"/>
              </a:srgbClr>
            </a:outerShdw>
          </a:effectLst>
        </p:spPr>
        <p:txBody>
          <a:bodyPr/>
          <a:lstStyle/>
          <a:p>
            <a:endParaRPr lang="en-US"/>
          </a:p>
        </p:txBody>
      </p:sp>
      <p:sp>
        <p:nvSpPr>
          <p:cNvPr id="26" name="Shape 24"/>
          <p:cNvSpPr/>
          <p:nvPr/>
        </p:nvSpPr>
        <p:spPr>
          <a:xfrm>
            <a:off x="6291072" y="3822192"/>
            <a:ext cx="118872" cy="2148840"/>
          </a:xfrm>
          <a:prstGeom prst="rect">
            <a:avLst/>
          </a:prstGeom>
          <a:solidFill>
            <a:srgbClr val="2E7D5B"/>
          </a:solidFill>
          <a:ln/>
        </p:spPr>
        <p:txBody>
          <a:bodyPr/>
          <a:lstStyle/>
          <a:p>
            <a:endParaRPr lang="en-US"/>
          </a:p>
        </p:txBody>
      </p:sp>
      <p:sp>
        <p:nvSpPr>
          <p:cNvPr id="27" name="Shape 25"/>
          <p:cNvSpPr/>
          <p:nvPr/>
        </p:nvSpPr>
        <p:spPr>
          <a:xfrm>
            <a:off x="6611112" y="4142232"/>
            <a:ext cx="566928" cy="566928"/>
          </a:xfrm>
          <a:prstGeom prst="ellipse">
            <a:avLst/>
          </a:prstGeom>
          <a:solidFill>
            <a:srgbClr val="2E7D5B"/>
          </a:solidFill>
          <a:ln/>
        </p:spPr>
        <p:txBody>
          <a:bodyPr/>
          <a:lstStyle/>
          <a:p>
            <a:endParaRPr lang="en-US"/>
          </a:p>
        </p:txBody>
      </p:sp>
      <p:sp>
        <p:nvSpPr>
          <p:cNvPr id="28" name="Text 26"/>
          <p:cNvSpPr/>
          <p:nvPr/>
        </p:nvSpPr>
        <p:spPr>
          <a:xfrm>
            <a:off x="6611112" y="4142232"/>
            <a:ext cx="566928" cy="56692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9" name="Text 27"/>
          <p:cNvSpPr/>
          <p:nvPr/>
        </p:nvSpPr>
        <p:spPr>
          <a:xfrm>
            <a:off x="7342632" y="4206240"/>
            <a:ext cx="4206240" cy="457200"/>
          </a:xfrm>
          <a:prstGeom prst="rect">
            <a:avLst/>
          </a:prstGeom>
          <a:noFill/>
          <a:ln/>
        </p:spPr>
        <p:txBody>
          <a:bodyPr wrap="square" rtlCol="0" anchor="ctr"/>
          <a:lstStyle/>
          <a:p>
            <a:pPr marL="0" indent="0">
              <a:buNone/>
            </a:pPr>
            <a:r>
              <a:rPr lang="en-US" sz="1900" b="1" dirty="0">
                <a:solidFill>
                  <a:srgbClr val="16233B"/>
                </a:solidFill>
                <a:latin typeface="Cambria" pitchFamily="34" charset="0"/>
                <a:ea typeface="Cambria" pitchFamily="34" charset="-122"/>
                <a:cs typeface="Cambria" pitchFamily="34" charset="-120"/>
              </a:rPr>
              <a:t>Documentation &amp; planning</a:t>
            </a:r>
            <a:endParaRPr lang="en-US" sz="1900" dirty="0"/>
          </a:p>
        </p:txBody>
      </p:sp>
      <p:sp>
        <p:nvSpPr>
          <p:cNvPr id="30" name="Text 28"/>
          <p:cNvSpPr/>
          <p:nvPr/>
        </p:nvSpPr>
        <p:spPr>
          <a:xfrm>
            <a:off x="6656832" y="4919472"/>
            <a:ext cx="4800600" cy="914400"/>
          </a:xfrm>
          <a:prstGeom prst="rect">
            <a:avLst/>
          </a:prstGeom>
          <a:noFill/>
          <a:ln/>
        </p:spPr>
        <p:txBody>
          <a:bodyPr wrap="square" rtlCol="0" anchor="ctr"/>
          <a:lstStyle/>
          <a:p>
            <a:pPr marL="0" indent="0">
              <a:lnSpc>
                <a:spcPts val="1600"/>
              </a:lnSpc>
              <a:buNone/>
            </a:pPr>
            <a:r>
              <a:rPr lang="en-US" sz="1250" dirty="0">
                <a:solidFill>
                  <a:srgbClr val="5C6675"/>
                </a:solidFill>
                <a:latin typeface="Calibri" pitchFamily="34" charset="0"/>
                <a:ea typeface="Calibri" pitchFamily="34" charset="-122"/>
                <a:cs typeface="Calibri" pitchFamily="34" charset="-120"/>
              </a:rPr>
              <a:t>Forecast-accuracy gaps, lead-time variance, and inconsistent reorder planning reduce confidence in supply records and inventory governance.</a:t>
            </a:r>
            <a:endParaRPr lang="en-US" sz="1250" dirty="0"/>
          </a:p>
        </p:txBody>
      </p:sp>
      <p:sp>
        <p:nvSpPr>
          <p:cNvPr id="31" name="Text 29"/>
          <p:cNvSpPr/>
          <p:nvPr/>
        </p:nvSpPr>
        <p:spPr>
          <a:xfrm>
            <a:off x="502920" y="6455664"/>
            <a:ext cx="6400800" cy="274320"/>
          </a:xfrm>
          <a:prstGeom prst="rect">
            <a:avLst/>
          </a:prstGeom>
          <a:noFill/>
          <a:ln/>
        </p:spPr>
        <p:txBody>
          <a:bodyPr wrap="square" rtlCol="0" anchor="ctr"/>
          <a:lstStyle/>
          <a:p>
            <a:pPr marL="0" indent="0">
              <a:buNone/>
            </a:pPr>
            <a:r>
              <a:rPr lang="en-US" sz="850" dirty="0">
                <a:solidFill>
                  <a:srgbClr val="5C6675"/>
                </a:solidFill>
                <a:latin typeface="Calibri" pitchFamily="34" charset="0"/>
                <a:ea typeface="Calibri" pitchFamily="34" charset="-122"/>
                <a:cs typeface="Calibri" pitchFamily="34" charset="-120"/>
              </a:rPr>
              <a:t>Supply Chain Issue Compliance Report</a:t>
            </a:r>
            <a:endParaRPr lang="en-US" sz="850" dirty="0"/>
          </a:p>
        </p:txBody>
      </p:sp>
      <p:sp>
        <p:nvSpPr>
          <p:cNvPr id="32" name="Text 30"/>
          <p:cNvSpPr/>
          <p:nvPr/>
        </p:nvSpPr>
        <p:spPr>
          <a:xfrm>
            <a:off x="5486400" y="6455664"/>
            <a:ext cx="4846320" cy="274320"/>
          </a:xfrm>
          <a:prstGeom prst="rect">
            <a:avLst/>
          </a:prstGeom>
          <a:noFill/>
          <a:ln/>
        </p:spPr>
        <p:txBody>
          <a:bodyPr wrap="square" rtlCol="0" anchor="ctr"/>
          <a:lstStyle/>
          <a:p>
            <a:pPr marL="0" indent="0" algn="r">
              <a:buNone/>
            </a:pPr>
            <a:r>
              <a:rPr lang="en-US" sz="850" dirty="0">
                <a:solidFill>
                  <a:srgbClr val="5C6675"/>
                </a:solidFill>
                <a:latin typeface="Calibri" pitchFamily="34" charset="0"/>
                <a:ea typeface="Calibri" pitchFamily="34" charset="-122"/>
                <a:cs typeface="Calibri" pitchFamily="34" charset="-120"/>
              </a:rPr>
              <a:t>50 component records  ·  5 suppliers  ·  July 2026</a:t>
            </a:r>
            <a:endParaRPr lang="en-US" sz="850" dirty="0"/>
          </a:p>
        </p:txBody>
      </p:sp>
      <p:sp>
        <p:nvSpPr>
          <p:cNvPr id="33" name="Text 31"/>
          <p:cNvSpPr/>
          <p:nvPr/>
        </p:nvSpPr>
        <p:spPr>
          <a:xfrm>
            <a:off x="11475720" y="6419088"/>
            <a:ext cx="365760" cy="292608"/>
          </a:xfrm>
          <a:prstGeom prst="rect">
            <a:avLst/>
          </a:prstGeom>
          <a:noFill/>
          <a:ln/>
        </p:spPr>
        <p:txBody>
          <a:bodyPr wrap="square" rtlCol="0" anchor="ctr"/>
          <a:lstStyle/>
          <a:p>
            <a:pPr marL="0" indent="0" algn="r">
              <a:buNone/>
            </a:pPr>
            <a:r>
              <a:rPr lang="en-US" sz="900" b="1" dirty="0">
                <a:solidFill>
                  <a:srgbClr val="5A6E8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6233B"/>
          </a:solidFill>
          <a:ln/>
        </p:spPr>
        <p:txBody>
          <a:bodyPr/>
          <a:lstStyle/>
          <a:p>
            <a:endParaRPr lang="en-US"/>
          </a:p>
        </p:txBody>
      </p:sp>
      <p:sp>
        <p:nvSpPr>
          <p:cNvPr id="3" name="Shape 1"/>
          <p:cNvSpPr/>
          <p:nvPr/>
        </p:nvSpPr>
        <p:spPr>
          <a:xfrm>
            <a:off x="0" y="1051560"/>
            <a:ext cx="12161520" cy="54864"/>
          </a:xfrm>
          <a:prstGeom prst="rect">
            <a:avLst/>
          </a:prstGeom>
          <a:solidFill>
            <a:srgbClr val="5A6E88"/>
          </a:solidFill>
          <a:ln/>
        </p:spPr>
        <p:txBody>
          <a:bodyPr/>
          <a:lstStyle/>
          <a:p>
            <a:endParaRPr lang="en-US"/>
          </a:p>
        </p:txBody>
      </p:sp>
      <p:sp>
        <p:nvSpPr>
          <p:cNvPr id="4" name="Shape 2"/>
          <p:cNvSpPr/>
          <p:nvPr/>
        </p:nvSpPr>
        <p:spPr>
          <a:xfrm>
            <a:off x="502920" y="310896"/>
            <a:ext cx="128016" cy="457200"/>
          </a:xfrm>
          <a:prstGeom prst="rect">
            <a:avLst/>
          </a:prstGeom>
          <a:solidFill>
            <a:srgbClr val="5A6E88"/>
          </a:solidFill>
          <a:ln/>
        </p:spPr>
        <p:txBody>
          <a:bodyPr/>
          <a:lstStyle/>
          <a:p>
            <a:endParaRPr lang="en-US"/>
          </a:p>
        </p:txBody>
      </p:sp>
      <p:sp>
        <p:nvSpPr>
          <p:cNvPr id="5" name="Text 3"/>
          <p:cNvSpPr/>
          <p:nvPr/>
        </p:nvSpPr>
        <p:spPr>
          <a:xfrm>
            <a:off x="777240" y="256032"/>
            <a:ext cx="8686800" cy="219456"/>
          </a:xfrm>
          <a:prstGeom prst="rect">
            <a:avLst/>
          </a:prstGeom>
          <a:noFill/>
          <a:ln/>
        </p:spPr>
        <p:txBody>
          <a:bodyPr wrap="square" rtlCol="0" anchor="ctr"/>
          <a:lstStyle/>
          <a:p>
            <a:pPr marL="0" indent="0">
              <a:buNone/>
            </a:pPr>
            <a:r>
              <a:rPr lang="en-US" sz="1050" b="1" kern="0" spc="300">
                <a:solidFill>
                  <a:srgbClr val="C9D6E8"/>
                </a:solidFill>
                <a:latin typeface="Calibri" pitchFamily="34" charset="0"/>
                <a:ea typeface="Calibri" pitchFamily="34" charset="-122"/>
                <a:cs typeface="Calibri" pitchFamily="34" charset="-120"/>
              </a:rPr>
              <a:t>PROPOSED SOLUTIONS</a:t>
            </a:r>
            <a:endParaRPr lang="en-US" sz="1050" dirty="0"/>
          </a:p>
        </p:txBody>
      </p:sp>
      <p:sp>
        <p:nvSpPr>
          <p:cNvPr id="6" name="Text 4"/>
          <p:cNvSpPr/>
          <p:nvPr/>
        </p:nvSpPr>
        <p:spPr>
          <a:xfrm>
            <a:off x="777240" y="457200"/>
            <a:ext cx="1060704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Actions to reduce delivery and quality risk</a:t>
            </a:r>
            <a:endParaRPr lang="en-US" sz="2400" dirty="0"/>
          </a:p>
        </p:txBody>
      </p:sp>
      <p:sp>
        <p:nvSpPr>
          <p:cNvPr id="7" name="Shape 5"/>
          <p:cNvSpPr/>
          <p:nvPr/>
        </p:nvSpPr>
        <p:spPr>
          <a:xfrm>
            <a:off x="502920" y="1371600"/>
            <a:ext cx="5532120" cy="4754880"/>
          </a:xfrm>
          <a:prstGeom prst="rect">
            <a:avLst/>
          </a:prstGeom>
          <a:solidFill>
            <a:srgbClr val="FFFFFF"/>
          </a:solidFill>
          <a:ln w="12700">
            <a:solidFill>
              <a:srgbClr val="D8E0EA"/>
            </a:solidFill>
            <a:prstDash val="solid"/>
          </a:ln>
          <a:effectLst>
            <a:outerShdw blurRad="114300" dist="38100" dir="5400000" algn="bl" rotWithShape="0">
              <a:srgbClr val="0B1320">
                <a:alpha val="16000"/>
              </a:srgbClr>
            </a:outerShdw>
          </a:effectLst>
        </p:spPr>
        <p:txBody>
          <a:bodyPr/>
          <a:lstStyle/>
          <a:p>
            <a:endParaRPr lang="en-US"/>
          </a:p>
        </p:txBody>
      </p:sp>
      <p:sp>
        <p:nvSpPr>
          <p:cNvPr id="8" name="Shape 6"/>
          <p:cNvSpPr/>
          <p:nvPr/>
        </p:nvSpPr>
        <p:spPr>
          <a:xfrm>
            <a:off x="502920" y="1371600"/>
            <a:ext cx="5532120" cy="566928"/>
          </a:xfrm>
          <a:prstGeom prst="rect">
            <a:avLst/>
          </a:prstGeom>
          <a:solidFill>
            <a:srgbClr val="16233B"/>
          </a:solidFill>
          <a:ln/>
        </p:spPr>
        <p:txBody>
          <a:bodyPr/>
          <a:lstStyle/>
          <a:p>
            <a:endParaRPr lang="en-US"/>
          </a:p>
        </p:txBody>
      </p:sp>
      <p:sp>
        <p:nvSpPr>
          <p:cNvPr id="9" name="Text 7"/>
          <p:cNvSpPr/>
          <p:nvPr/>
        </p:nvSpPr>
        <p:spPr>
          <a:xfrm>
            <a:off x="777240" y="1371600"/>
            <a:ext cx="5029200" cy="566928"/>
          </a:xfrm>
          <a:prstGeom prst="rect">
            <a:avLst/>
          </a:prstGeom>
          <a:noFill/>
          <a:ln/>
        </p:spPr>
        <p:txBody>
          <a:bodyPr wrap="square"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GENERAL STRATEGIES</a:t>
            </a:r>
            <a:endParaRPr lang="en-US" sz="1300" dirty="0"/>
          </a:p>
        </p:txBody>
      </p:sp>
      <p:sp>
        <p:nvSpPr>
          <p:cNvPr id="10" name="Shape 8"/>
          <p:cNvSpPr/>
          <p:nvPr/>
        </p:nvSpPr>
        <p:spPr>
          <a:xfrm>
            <a:off x="777240" y="2194560"/>
            <a:ext cx="128016" cy="128016"/>
          </a:xfrm>
          <a:prstGeom prst="rect">
            <a:avLst/>
          </a:prstGeom>
          <a:solidFill>
            <a:srgbClr val="5A6E88"/>
          </a:solidFill>
          <a:ln/>
        </p:spPr>
        <p:txBody>
          <a:bodyPr/>
          <a:lstStyle/>
          <a:p>
            <a:endParaRPr lang="en-US"/>
          </a:p>
        </p:txBody>
      </p:sp>
      <p:sp>
        <p:nvSpPr>
          <p:cNvPr id="11" name="Text 9"/>
          <p:cNvSpPr/>
          <p:nvPr/>
        </p:nvSpPr>
        <p:spPr>
          <a:xfrm>
            <a:off x="1024128" y="2075688"/>
            <a:ext cx="4892040" cy="566928"/>
          </a:xfrm>
          <a:prstGeom prst="rect">
            <a:avLst/>
          </a:prstGeom>
          <a:noFill/>
          <a:ln/>
        </p:spPr>
        <p:txBody>
          <a:bodyPr wrap="square" rtlCol="0" anchor="ctr"/>
          <a:lstStyle/>
          <a:p>
            <a:pPr marL="0" indent="0">
              <a:lnSpc>
                <a:spcPts val="1350"/>
              </a:lnSpc>
              <a:buNone/>
            </a:pPr>
            <a:r>
              <a:rPr lang="en-US" sz="1250" b="1" dirty="0">
                <a:solidFill>
                  <a:srgbClr val="16233B"/>
                </a:solidFill>
                <a:latin typeface="Calibri" pitchFamily="34" charset="0"/>
                <a:ea typeface="Calibri" pitchFamily="34" charset="-122"/>
                <a:cs typeface="Calibri" pitchFamily="34" charset="-120"/>
              </a:rPr>
              <a:t>Strengthen supplier reviews  </a:t>
            </a:r>
            <a:r>
              <a:rPr lang="en-US" sz="1150" dirty="0">
                <a:solidFill>
                  <a:srgbClr val="5C6675"/>
                </a:solidFill>
                <a:latin typeface="Calibri" pitchFamily="34" charset="0"/>
                <a:ea typeface="Calibri" pitchFamily="34" charset="-122"/>
                <a:cs typeface="Calibri" pitchFamily="34" charset="-120"/>
              </a:rPr>
              <a:t>— Corrective actions tied to measurable service-level targets.</a:t>
            </a:r>
            <a:endParaRPr lang="en-US" sz="1250" dirty="0"/>
          </a:p>
        </p:txBody>
      </p:sp>
      <p:sp>
        <p:nvSpPr>
          <p:cNvPr id="12" name="Shape 10"/>
          <p:cNvSpPr/>
          <p:nvPr/>
        </p:nvSpPr>
        <p:spPr>
          <a:xfrm>
            <a:off x="777240" y="2843784"/>
            <a:ext cx="128016" cy="128016"/>
          </a:xfrm>
          <a:prstGeom prst="rect">
            <a:avLst/>
          </a:prstGeom>
          <a:solidFill>
            <a:srgbClr val="5A6E88"/>
          </a:solidFill>
          <a:ln/>
        </p:spPr>
        <p:txBody>
          <a:bodyPr/>
          <a:lstStyle/>
          <a:p>
            <a:endParaRPr lang="en-US"/>
          </a:p>
        </p:txBody>
      </p:sp>
      <p:sp>
        <p:nvSpPr>
          <p:cNvPr id="13" name="Text 11"/>
          <p:cNvSpPr/>
          <p:nvPr/>
        </p:nvSpPr>
        <p:spPr>
          <a:xfrm>
            <a:off x="1024128" y="2724912"/>
            <a:ext cx="4892040" cy="566928"/>
          </a:xfrm>
          <a:prstGeom prst="rect">
            <a:avLst/>
          </a:prstGeom>
          <a:noFill/>
          <a:ln/>
        </p:spPr>
        <p:txBody>
          <a:bodyPr wrap="square" rtlCol="0" anchor="ctr"/>
          <a:lstStyle/>
          <a:p>
            <a:pPr marL="0" indent="0">
              <a:lnSpc>
                <a:spcPts val="1350"/>
              </a:lnSpc>
              <a:buNone/>
            </a:pPr>
            <a:r>
              <a:rPr lang="en-US" sz="1250" b="1" dirty="0">
                <a:solidFill>
                  <a:srgbClr val="16233B"/>
                </a:solidFill>
                <a:latin typeface="Calibri" pitchFamily="34" charset="0"/>
                <a:ea typeface="Calibri" pitchFamily="34" charset="-122"/>
                <a:cs typeface="Calibri" pitchFamily="34" charset="-120"/>
              </a:rPr>
              <a:t>Improve inventory governance  </a:t>
            </a:r>
            <a:r>
              <a:rPr lang="en-US" sz="1150" dirty="0">
                <a:solidFill>
                  <a:srgbClr val="5C6675"/>
                </a:solidFill>
                <a:latin typeface="Calibri" pitchFamily="34" charset="0"/>
                <a:ea typeface="Calibri" pitchFamily="34" charset="-122"/>
                <a:cs typeface="Calibri" pitchFamily="34" charset="-120"/>
              </a:rPr>
              <a:t>— Reassess reorder points, safety stock, and usage assumptions.</a:t>
            </a:r>
            <a:endParaRPr lang="en-US" sz="1250" dirty="0"/>
          </a:p>
        </p:txBody>
      </p:sp>
      <p:sp>
        <p:nvSpPr>
          <p:cNvPr id="14" name="Shape 12"/>
          <p:cNvSpPr/>
          <p:nvPr/>
        </p:nvSpPr>
        <p:spPr>
          <a:xfrm>
            <a:off x="777240" y="3493008"/>
            <a:ext cx="128016" cy="128016"/>
          </a:xfrm>
          <a:prstGeom prst="rect">
            <a:avLst/>
          </a:prstGeom>
          <a:solidFill>
            <a:srgbClr val="5A6E88"/>
          </a:solidFill>
          <a:ln/>
        </p:spPr>
        <p:txBody>
          <a:bodyPr/>
          <a:lstStyle/>
          <a:p>
            <a:endParaRPr lang="en-US"/>
          </a:p>
        </p:txBody>
      </p:sp>
      <p:sp>
        <p:nvSpPr>
          <p:cNvPr id="15" name="Text 13"/>
          <p:cNvSpPr/>
          <p:nvPr/>
        </p:nvSpPr>
        <p:spPr>
          <a:xfrm>
            <a:off x="1024128" y="3374136"/>
            <a:ext cx="4892040" cy="566928"/>
          </a:xfrm>
          <a:prstGeom prst="rect">
            <a:avLst/>
          </a:prstGeom>
          <a:noFill/>
          <a:ln/>
        </p:spPr>
        <p:txBody>
          <a:bodyPr wrap="square" rtlCol="0" anchor="ctr"/>
          <a:lstStyle/>
          <a:p>
            <a:pPr marL="0" indent="0">
              <a:lnSpc>
                <a:spcPts val="1350"/>
              </a:lnSpc>
              <a:buNone/>
            </a:pPr>
            <a:r>
              <a:rPr lang="en-US" sz="1250" b="1" dirty="0">
                <a:solidFill>
                  <a:srgbClr val="16233B"/>
                </a:solidFill>
                <a:latin typeface="Calibri" pitchFamily="34" charset="0"/>
                <a:ea typeface="Calibri" pitchFamily="34" charset="-122"/>
                <a:cs typeface="Calibri" pitchFamily="34" charset="-120"/>
              </a:rPr>
              <a:t>Expand alternate sourcing  </a:t>
            </a:r>
            <a:r>
              <a:rPr lang="en-US" sz="1150" dirty="0">
                <a:solidFill>
                  <a:srgbClr val="5C6675"/>
                </a:solidFill>
                <a:latin typeface="Calibri" pitchFamily="34" charset="0"/>
                <a:ea typeface="Calibri" pitchFamily="34" charset="-122"/>
                <a:cs typeface="Calibri" pitchFamily="34" charset="-120"/>
              </a:rPr>
              <a:t>— Dual-source components with delays or high compliance impact.</a:t>
            </a:r>
            <a:endParaRPr lang="en-US" sz="1250" dirty="0"/>
          </a:p>
        </p:txBody>
      </p:sp>
      <p:sp>
        <p:nvSpPr>
          <p:cNvPr id="16" name="Shape 14"/>
          <p:cNvSpPr/>
          <p:nvPr/>
        </p:nvSpPr>
        <p:spPr>
          <a:xfrm>
            <a:off x="777240" y="4142232"/>
            <a:ext cx="128016" cy="128016"/>
          </a:xfrm>
          <a:prstGeom prst="rect">
            <a:avLst/>
          </a:prstGeom>
          <a:solidFill>
            <a:srgbClr val="5A6E88"/>
          </a:solidFill>
          <a:ln/>
        </p:spPr>
        <p:txBody>
          <a:bodyPr/>
          <a:lstStyle/>
          <a:p>
            <a:endParaRPr lang="en-US"/>
          </a:p>
        </p:txBody>
      </p:sp>
      <p:sp>
        <p:nvSpPr>
          <p:cNvPr id="17" name="Text 15"/>
          <p:cNvSpPr/>
          <p:nvPr/>
        </p:nvSpPr>
        <p:spPr>
          <a:xfrm>
            <a:off x="1024128" y="4023360"/>
            <a:ext cx="4892040" cy="566928"/>
          </a:xfrm>
          <a:prstGeom prst="rect">
            <a:avLst/>
          </a:prstGeom>
          <a:noFill/>
          <a:ln/>
        </p:spPr>
        <p:txBody>
          <a:bodyPr wrap="square" rtlCol="0" anchor="ctr"/>
          <a:lstStyle/>
          <a:p>
            <a:pPr marL="0" indent="0">
              <a:lnSpc>
                <a:spcPts val="1350"/>
              </a:lnSpc>
              <a:buNone/>
            </a:pPr>
            <a:r>
              <a:rPr lang="en-US" sz="1250" b="1" dirty="0">
                <a:solidFill>
                  <a:srgbClr val="16233B"/>
                </a:solidFill>
                <a:latin typeface="Calibri" pitchFamily="34" charset="0"/>
                <a:ea typeface="Calibri" pitchFamily="34" charset="-122"/>
                <a:cs typeface="Calibri" pitchFamily="34" charset="-120"/>
              </a:rPr>
              <a:t>Use expedite shipping selectively  </a:t>
            </a:r>
            <a:r>
              <a:rPr lang="en-US" sz="1150" dirty="0">
                <a:solidFill>
                  <a:srgbClr val="5C6675"/>
                </a:solidFill>
                <a:latin typeface="Calibri" pitchFamily="34" charset="0"/>
                <a:ea typeface="Calibri" pitchFamily="34" charset="-122"/>
                <a:cs typeface="Calibri" pitchFamily="34" charset="-120"/>
              </a:rPr>
              <a:t>— Reserve for shortages that threaten production continuity.</a:t>
            </a:r>
            <a:endParaRPr lang="en-US" sz="1250" dirty="0"/>
          </a:p>
        </p:txBody>
      </p:sp>
      <p:sp>
        <p:nvSpPr>
          <p:cNvPr id="18" name="Shape 16"/>
          <p:cNvSpPr/>
          <p:nvPr/>
        </p:nvSpPr>
        <p:spPr>
          <a:xfrm>
            <a:off x="777240" y="4791456"/>
            <a:ext cx="128016" cy="128016"/>
          </a:xfrm>
          <a:prstGeom prst="rect">
            <a:avLst/>
          </a:prstGeom>
          <a:solidFill>
            <a:srgbClr val="5A6E88"/>
          </a:solidFill>
          <a:ln/>
        </p:spPr>
        <p:txBody>
          <a:bodyPr/>
          <a:lstStyle/>
          <a:p>
            <a:endParaRPr lang="en-US"/>
          </a:p>
        </p:txBody>
      </p:sp>
      <p:sp>
        <p:nvSpPr>
          <p:cNvPr id="19" name="Text 17"/>
          <p:cNvSpPr/>
          <p:nvPr/>
        </p:nvSpPr>
        <p:spPr>
          <a:xfrm>
            <a:off x="1024128" y="4672584"/>
            <a:ext cx="4892040" cy="566928"/>
          </a:xfrm>
          <a:prstGeom prst="rect">
            <a:avLst/>
          </a:prstGeom>
          <a:noFill/>
          <a:ln/>
        </p:spPr>
        <p:txBody>
          <a:bodyPr wrap="square" rtlCol="0" anchor="ctr"/>
          <a:lstStyle/>
          <a:p>
            <a:pPr marL="0" indent="0">
              <a:lnSpc>
                <a:spcPts val="1350"/>
              </a:lnSpc>
              <a:buNone/>
            </a:pPr>
            <a:r>
              <a:rPr lang="en-US" sz="1250" b="1" dirty="0">
                <a:solidFill>
                  <a:srgbClr val="16233B"/>
                </a:solidFill>
                <a:latin typeface="Calibri" pitchFamily="34" charset="0"/>
                <a:ea typeface="Calibri" pitchFamily="34" charset="-122"/>
                <a:cs typeface="Calibri" pitchFamily="34" charset="-120"/>
              </a:rPr>
              <a:t>Enhance forecast monitoring  </a:t>
            </a:r>
            <a:r>
              <a:rPr lang="en-US" sz="1150" dirty="0">
                <a:solidFill>
                  <a:srgbClr val="5C6675"/>
                </a:solidFill>
                <a:latin typeface="Calibri" pitchFamily="34" charset="0"/>
                <a:ea typeface="Calibri" pitchFamily="34" charset="-122"/>
                <a:cs typeface="Calibri" pitchFamily="34" charset="-120"/>
              </a:rPr>
              <a:t>— Track accuracy against usage and lead-time variance.</a:t>
            </a:r>
            <a:endParaRPr lang="en-US" sz="1250" dirty="0"/>
          </a:p>
        </p:txBody>
      </p:sp>
      <p:sp>
        <p:nvSpPr>
          <p:cNvPr id="20" name="Shape 18"/>
          <p:cNvSpPr/>
          <p:nvPr/>
        </p:nvSpPr>
        <p:spPr>
          <a:xfrm>
            <a:off x="777240" y="5440680"/>
            <a:ext cx="128016" cy="128016"/>
          </a:xfrm>
          <a:prstGeom prst="rect">
            <a:avLst/>
          </a:prstGeom>
          <a:solidFill>
            <a:srgbClr val="5A6E88"/>
          </a:solidFill>
          <a:ln/>
        </p:spPr>
        <p:txBody>
          <a:bodyPr/>
          <a:lstStyle/>
          <a:p>
            <a:endParaRPr lang="en-US"/>
          </a:p>
        </p:txBody>
      </p:sp>
      <p:sp>
        <p:nvSpPr>
          <p:cNvPr id="21" name="Text 19"/>
          <p:cNvSpPr/>
          <p:nvPr/>
        </p:nvSpPr>
        <p:spPr>
          <a:xfrm>
            <a:off x="1024128" y="5321808"/>
            <a:ext cx="4892040" cy="566928"/>
          </a:xfrm>
          <a:prstGeom prst="rect">
            <a:avLst/>
          </a:prstGeom>
          <a:noFill/>
          <a:ln/>
        </p:spPr>
        <p:txBody>
          <a:bodyPr wrap="square" rtlCol="0" anchor="ctr"/>
          <a:lstStyle/>
          <a:p>
            <a:pPr marL="0" indent="0">
              <a:lnSpc>
                <a:spcPts val="1350"/>
              </a:lnSpc>
              <a:buNone/>
            </a:pPr>
            <a:r>
              <a:rPr lang="en-US" sz="1250" b="1" dirty="0">
                <a:solidFill>
                  <a:srgbClr val="16233B"/>
                </a:solidFill>
                <a:latin typeface="Calibri" pitchFamily="34" charset="0"/>
                <a:ea typeface="Calibri" pitchFamily="34" charset="-122"/>
                <a:cs typeface="Calibri" pitchFamily="34" charset="-120"/>
              </a:rPr>
              <a:t>Risk-based component dashboard  </a:t>
            </a:r>
            <a:r>
              <a:rPr lang="en-US" sz="1150" dirty="0">
                <a:solidFill>
                  <a:srgbClr val="5C6675"/>
                </a:solidFill>
                <a:latin typeface="Calibri" pitchFamily="34" charset="0"/>
                <a:ea typeface="Calibri" pitchFamily="34" charset="-122"/>
                <a:cs typeface="Calibri" pitchFamily="34" charset="-120"/>
              </a:rPr>
              <a:t>— One recurring review of risk, delivery, defects, and stock.</a:t>
            </a:r>
            <a:endParaRPr lang="en-US" sz="1250" dirty="0"/>
          </a:p>
        </p:txBody>
      </p:sp>
      <p:sp>
        <p:nvSpPr>
          <p:cNvPr id="22" name="Shape 20"/>
          <p:cNvSpPr/>
          <p:nvPr/>
        </p:nvSpPr>
        <p:spPr>
          <a:xfrm>
            <a:off x="6263640" y="1371600"/>
            <a:ext cx="5394960" cy="4754880"/>
          </a:xfrm>
          <a:prstGeom prst="rect">
            <a:avLst/>
          </a:prstGeom>
          <a:solidFill>
            <a:srgbClr val="FFFFFF"/>
          </a:solidFill>
          <a:ln w="12700">
            <a:solidFill>
              <a:srgbClr val="D8E0EA"/>
            </a:solidFill>
            <a:prstDash val="solid"/>
          </a:ln>
          <a:effectLst>
            <a:outerShdw blurRad="114300" dist="38100" dir="5400000" algn="bl" rotWithShape="0">
              <a:srgbClr val="0B1320">
                <a:alpha val="16000"/>
              </a:srgbClr>
            </a:outerShdw>
          </a:effectLst>
        </p:spPr>
        <p:txBody>
          <a:bodyPr/>
          <a:lstStyle/>
          <a:p>
            <a:endParaRPr lang="en-US"/>
          </a:p>
        </p:txBody>
      </p:sp>
      <p:sp>
        <p:nvSpPr>
          <p:cNvPr id="23" name="Shape 21"/>
          <p:cNvSpPr/>
          <p:nvPr/>
        </p:nvSpPr>
        <p:spPr>
          <a:xfrm>
            <a:off x="6263640" y="1371600"/>
            <a:ext cx="5394960" cy="566928"/>
          </a:xfrm>
          <a:prstGeom prst="rect">
            <a:avLst/>
          </a:prstGeom>
          <a:solidFill>
            <a:srgbClr val="3C4E6B"/>
          </a:solidFill>
          <a:ln/>
        </p:spPr>
        <p:txBody>
          <a:bodyPr/>
          <a:lstStyle/>
          <a:p>
            <a:endParaRPr lang="en-US"/>
          </a:p>
        </p:txBody>
      </p:sp>
      <p:sp>
        <p:nvSpPr>
          <p:cNvPr id="24" name="Text 22"/>
          <p:cNvSpPr/>
          <p:nvPr/>
        </p:nvSpPr>
        <p:spPr>
          <a:xfrm>
            <a:off x="6537960" y="1371600"/>
            <a:ext cx="4937760" cy="566928"/>
          </a:xfrm>
          <a:prstGeom prst="rect">
            <a:avLst/>
          </a:prstGeom>
          <a:noFill/>
          <a:ln/>
        </p:spPr>
        <p:txBody>
          <a:bodyPr wrap="square"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COMPONENT-SPECIFIC ACTIONS</a:t>
            </a:r>
            <a:endParaRPr lang="en-US" sz="1300" dirty="0"/>
          </a:p>
        </p:txBody>
      </p:sp>
      <p:sp>
        <p:nvSpPr>
          <p:cNvPr id="25" name="Text 23"/>
          <p:cNvSpPr/>
          <p:nvPr/>
        </p:nvSpPr>
        <p:spPr>
          <a:xfrm>
            <a:off x="6537960" y="2121408"/>
            <a:ext cx="2743200" cy="320040"/>
          </a:xfrm>
          <a:prstGeom prst="rect">
            <a:avLst/>
          </a:prstGeom>
          <a:noFill/>
          <a:ln/>
        </p:spPr>
        <p:txBody>
          <a:bodyPr wrap="square" rtlCol="0" anchor="ctr"/>
          <a:lstStyle/>
          <a:p>
            <a:pPr marL="0" indent="0">
              <a:buNone/>
            </a:pPr>
            <a:r>
              <a:rPr lang="en-US" sz="1600" b="1" dirty="0">
                <a:solidFill>
                  <a:srgbClr val="16233B"/>
                </a:solidFill>
                <a:latin typeface="Cambria" pitchFamily="34" charset="0"/>
                <a:ea typeface="Cambria" pitchFamily="34" charset="-122"/>
                <a:cs typeface="Cambria" pitchFamily="34" charset="-120"/>
              </a:rPr>
              <a:t>CARB123</a:t>
            </a:r>
            <a:endParaRPr lang="en-US" sz="1600" dirty="0"/>
          </a:p>
        </p:txBody>
      </p:sp>
      <p:sp>
        <p:nvSpPr>
          <p:cNvPr id="26" name="Shape 24"/>
          <p:cNvSpPr/>
          <p:nvPr/>
        </p:nvSpPr>
        <p:spPr>
          <a:xfrm>
            <a:off x="6537960" y="2487168"/>
            <a:ext cx="502920" cy="54864"/>
          </a:xfrm>
          <a:prstGeom prst="rect">
            <a:avLst/>
          </a:prstGeom>
          <a:solidFill>
            <a:srgbClr val="5A6E88"/>
          </a:solidFill>
          <a:ln/>
        </p:spPr>
        <p:txBody>
          <a:bodyPr/>
          <a:lstStyle/>
          <a:p>
            <a:endParaRPr lang="en-US"/>
          </a:p>
        </p:txBody>
      </p:sp>
      <p:sp>
        <p:nvSpPr>
          <p:cNvPr id="27" name="Text 25"/>
          <p:cNvSpPr/>
          <p:nvPr/>
        </p:nvSpPr>
        <p:spPr>
          <a:xfrm>
            <a:off x="6537960" y="2578608"/>
            <a:ext cx="4892040" cy="822960"/>
          </a:xfrm>
          <a:prstGeom prst="rect">
            <a:avLst/>
          </a:prstGeom>
          <a:noFill/>
          <a:ln/>
        </p:spPr>
        <p:txBody>
          <a:bodyPr wrap="square" rtlCol="0" anchor="ctr"/>
          <a:lstStyle/>
          <a:p>
            <a:pPr marL="0" indent="0">
              <a:lnSpc>
                <a:spcPts val="1350"/>
              </a:lnSpc>
              <a:buNone/>
            </a:pPr>
            <a:r>
              <a:rPr lang="en-US" sz="1100" dirty="0">
                <a:solidFill>
                  <a:srgbClr val="5C6675"/>
                </a:solidFill>
                <a:latin typeface="Calibri" pitchFamily="34" charset="0"/>
                <a:ea typeface="Calibri" pitchFamily="34" charset="-122"/>
                <a:cs typeface="Calibri" pitchFamily="34" charset="-120"/>
              </a:rPr>
              <a:t>Standardize the mitigation path: review contract terms, validate reorder points, and expedite only for high-risk shortages. Confirm whether lead-time swings are supplier- or planning-driven.</a:t>
            </a:r>
            <a:endParaRPr lang="en-US" sz="1100" dirty="0"/>
          </a:p>
        </p:txBody>
      </p:sp>
      <p:sp>
        <p:nvSpPr>
          <p:cNvPr id="28" name="Text 26"/>
          <p:cNvSpPr/>
          <p:nvPr/>
        </p:nvSpPr>
        <p:spPr>
          <a:xfrm>
            <a:off x="6537960" y="3438144"/>
            <a:ext cx="2743200" cy="320040"/>
          </a:xfrm>
          <a:prstGeom prst="rect">
            <a:avLst/>
          </a:prstGeom>
          <a:noFill/>
          <a:ln/>
        </p:spPr>
        <p:txBody>
          <a:bodyPr wrap="square" rtlCol="0" anchor="ctr"/>
          <a:lstStyle/>
          <a:p>
            <a:pPr marL="0" indent="0">
              <a:buNone/>
            </a:pPr>
            <a:r>
              <a:rPr lang="en-US" sz="1600" b="1" dirty="0">
                <a:solidFill>
                  <a:srgbClr val="16233B"/>
                </a:solidFill>
                <a:latin typeface="Cambria" pitchFamily="34" charset="0"/>
                <a:ea typeface="Cambria" pitchFamily="34" charset="-122"/>
                <a:cs typeface="Cambria" pitchFamily="34" charset="-120"/>
              </a:rPr>
              <a:t>BIND567</a:t>
            </a:r>
            <a:endParaRPr lang="en-US" sz="1600" dirty="0"/>
          </a:p>
        </p:txBody>
      </p:sp>
      <p:sp>
        <p:nvSpPr>
          <p:cNvPr id="29" name="Shape 27"/>
          <p:cNvSpPr/>
          <p:nvPr/>
        </p:nvSpPr>
        <p:spPr>
          <a:xfrm>
            <a:off x="6537960" y="3803904"/>
            <a:ext cx="502920" cy="54864"/>
          </a:xfrm>
          <a:prstGeom prst="rect">
            <a:avLst/>
          </a:prstGeom>
          <a:solidFill>
            <a:srgbClr val="B23A3A"/>
          </a:solidFill>
          <a:ln/>
        </p:spPr>
        <p:txBody>
          <a:bodyPr/>
          <a:lstStyle/>
          <a:p>
            <a:endParaRPr lang="en-US"/>
          </a:p>
        </p:txBody>
      </p:sp>
      <p:sp>
        <p:nvSpPr>
          <p:cNvPr id="30" name="Text 28"/>
          <p:cNvSpPr/>
          <p:nvPr/>
        </p:nvSpPr>
        <p:spPr>
          <a:xfrm>
            <a:off x="6537960" y="3895344"/>
            <a:ext cx="4892040" cy="822960"/>
          </a:xfrm>
          <a:prstGeom prst="rect">
            <a:avLst/>
          </a:prstGeom>
          <a:noFill/>
          <a:ln/>
        </p:spPr>
        <p:txBody>
          <a:bodyPr wrap="square" rtlCol="0" anchor="ctr"/>
          <a:lstStyle/>
          <a:p>
            <a:pPr marL="0" indent="0">
              <a:lnSpc>
                <a:spcPts val="1350"/>
              </a:lnSpc>
              <a:buNone/>
            </a:pPr>
            <a:r>
              <a:rPr lang="en-US" sz="1100" dirty="0">
                <a:solidFill>
                  <a:srgbClr val="5C6675"/>
                </a:solidFill>
                <a:latin typeface="Calibri" pitchFamily="34" charset="0"/>
                <a:ea typeface="Calibri" pitchFamily="34" charset="-122"/>
                <a:cs typeface="Calibri" pitchFamily="34" charset="-120"/>
              </a:rPr>
              <a:t>Investigate the 64-day timeline (capacity, materials, ordering cadence, routing). Widen advance-planning windows and set an exception review for any component beyond agreed lead-time thresholds.</a:t>
            </a:r>
            <a:endParaRPr lang="en-US" sz="1100" dirty="0"/>
          </a:p>
        </p:txBody>
      </p:sp>
      <p:sp>
        <p:nvSpPr>
          <p:cNvPr id="31" name="Text 29"/>
          <p:cNvSpPr/>
          <p:nvPr/>
        </p:nvSpPr>
        <p:spPr>
          <a:xfrm>
            <a:off x="6537960" y="4754880"/>
            <a:ext cx="2743200" cy="320040"/>
          </a:xfrm>
          <a:prstGeom prst="rect">
            <a:avLst/>
          </a:prstGeom>
          <a:noFill/>
          <a:ln/>
        </p:spPr>
        <p:txBody>
          <a:bodyPr wrap="square" rtlCol="0" anchor="ctr"/>
          <a:lstStyle/>
          <a:p>
            <a:pPr marL="0" indent="0">
              <a:buNone/>
            </a:pPr>
            <a:r>
              <a:rPr lang="en-US" sz="1600" b="1" dirty="0">
                <a:solidFill>
                  <a:srgbClr val="16233B"/>
                </a:solidFill>
                <a:latin typeface="Cambria" pitchFamily="34" charset="0"/>
                <a:ea typeface="Cambria" pitchFamily="34" charset="-122"/>
                <a:cs typeface="Cambria" pitchFamily="34" charset="-120"/>
              </a:rPr>
              <a:t>COAT890</a:t>
            </a:r>
            <a:endParaRPr lang="en-US" sz="1600" dirty="0"/>
          </a:p>
        </p:txBody>
      </p:sp>
      <p:sp>
        <p:nvSpPr>
          <p:cNvPr id="32" name="Shape 30"/>
          <p:cNvSpPr/>
          <p:nvPr/>
        </p:nvSpPr>
        <p:spPr>
          <a:xfrm>
            <a:off x="6537960" y="5120640"/>
            <a:ext cx="502920" cy="54864"/>
          </a:xfrm>
          <a:prstGeom prst="rect">
            <a:avLst/>
          </a:prstGeom>
          <a:solidFill>
            <a:srgbClr val="C4842B"/>
          </a:solidFill>
          <a:ln/>
        </p:spPr>
        <p:txBody>
          <a:bodyPr/>
          <a:lstStyle/>
          <a:p>
            <a:endParaRPr lang="en-US"/>
          </a:p>
        </p:txBody>
      </p:sp>
      <p:sp>
        <p:nvSpPr>
          <p:cNvPr id="33" name="Text 31"/>
          <p:cNvSpPr/>
          <p:nvPr/>
        </p:nvSpPr>
        <p:spPr>
          <a:xfrm>
            <a:off x="6537960" y="5212080"/>
            <a:ext cx="4892040" cy="822960"/>
          </a:xfrm>
          <a:prstGeom prst="rect">
            <a:avLst/>
          </a:prstGeom>
          <a:noFill/>
          <a:ln/>
        </p:spPr>
        <p:txBody>
          <a:bodyPr wrap="square" rtlCol="0" anchor="ctr"/>
          <a:lstStyle/>
          <a:p>
            <a:pPr marL="0" indent="0">
              <a:lnSpc>
                <a:spcPts val="1350"/>
              </a:lnSpc>
              <a:buNone/>
            </a:pPr>
            <a:r>
              <a:rPr lang="en-US" sz="1100" dirty="0">
                <a:solidFill>
                  <a:srgbClr val="5C6675"/>
                </a:solidFill>
                <a:latin typeface="Calibri" pitchFamily="34" charset="0"/>
                <a:ea typeface="Calibri" pitchFamily="34" charset="-122"/>
                <a:cs typeface="Calibri" pitchFamily="34" charset="-120"/>
              </a:rPr>
              <a:t>Prioritize alternate sourcing and supplier review. Segment records by supplier to locate delays, and add buffer stock where usage criticality is high.</a:t>
            </a:r>
            <a:endParaRPr lang="en-US" sz="1100" dirty="0"/>
          </a:p>
        </p:txBody>
      </p:sp>
      <p:sp>
        <p:nvSpPr>
          <p:cNvPr id="34" name="Text 32"/>
          <p:cNvSpPr/>
          <p:nvPr/>
        </p:nvSpPr>
        <p:spPr>
          <a:xfrm>
            <a:off x="502920" y="6455664"/>
            <a:ext cx="6400800" cy="274320"/>
          </a:xfrm>
          <a:prstGeom prst="rect">
            <a:avLst/>
          </a:prstGeom>
          <a:noFill/>
          <a:ln/>
        </p:spPr>
        <p:txBody>
          <a:bodyPr wrap="square" rtlCol="0" anchor="ctr"/>
          <a:lstStyle/>
          <a:p>
            <a:pPr marL="0" indent="0">
              <a:buNone/>
            </a:pPr>
            <a:r>
              <a:rPr lang="en-US" sz="850" dirty="0">
                <a:solidFill>
                  <a:srgbClr val="5C6675"/>
                </a:solidFill>
                <a:latin typeface="Calibri" pitchFamily="34" charset="0"/>
                <a:ea typeface="Calibri" pitchFamily="34" charset="-122"/>
                <a:cs typeface="Calibri" pitchFamily="34" charset="-120"/>
              </a:rPr>
              <a:t>Supply Chain Issue Compliance Report</a:t>
            </a:r>
            <a:endParaRPr lang="en-US" sz="850" dirty="0"/>
          </a:p>
        </p:txBody>
      </p:sp>
      <p:sp>
        <p:nvSpPr>
          <p:cNvPr id="35" name="Text 33"/>
          <p:cNvSpPr/>
          <p:nvPr/>
        </p:nvSpPr>
        <p:spPr>
          <a:xfrm>
            <a:off x="5486400" y="6455664"/>
            <a:ext cx="4846320" cy="274320"/>
          </a:xfrm>
          <a:prstGeom prst="rect">
            <a:avLst/>
          </a:prstGeom>
          <a:noFill/>
          <a:ln/>
        </p:spPr>
        <p:txBody>
          <a:bodyPr wrap="square" rtlCol="0" anchor="ctr"/>
          <a:lstStyle/>
          <a:p>
            <a:pPr marL="0" indent="0" algn="r">
              <a:buNone/>
            </a:pPr>
            <a:r>
              <a:rPr lang="en-US" sz="850" dirty="0">
                <a:solidFill>
                  <a:srgbClr val="5C6675"/>
                </a:solidFill>
                <a:latin typeface="Calibri" pitchFamily="34" charset="0"/>
                <a:ea typeface="Calibri" pitchFamily="34" charset="-122"/>
                <a:cs typeface="Calibri" pitchFamily="34" charset="-120"/>
              </a:rPr>
              <a:t>50 component records  ·  5 suppliers  ·  July 2026</a:t>
            </a:r>
            <a:endParaRPr lang="en-US" sz="850" dirty="0"/>
          </a:p>
        </p:txBody>
      </p:sp>
      <p:sp>
        <p:nvSpPr>
          <p:cNvPr id="36" name="Text 34"/>
          <p:cNvSpPr/>
          <p:nvPr/>
        </p:nvSpPr>
        <p:spPr>
          <a:xfrm>
            <a:off x="11475720" y="6419088"/>
            <a:ext cx="365760" cy="292608"/>
          </a:xfrm>
          <a:prstGeom prst="rect">
            <a:avLst/>
          </a:prstGeom>
          <a:noFill/>
          <a:ln/>
        </p:spPr>
        <p:txBody>
          <a:bodyPr wrap="square" rtlCol="0" anchor="ctr"/>
          <a:lstStyle/>
          <a:p>
            <a:pPr marL="0" indent="0" algn="r">
              <a:buNone/>
            </a:pPr>
            <a:r>
              <a:rPr lang="en-US" sz="900" b="1" dirty="0">
                <a:solidFill>
                  <a:srgbClr val="5A6E8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33B"/>
        </a:solidFill>
        <a:effectLst/>
      </p:bgPr>
    </p:bg>
    <p:spTree>
      <p:nvGrpSpPr>
        <p:cNvPr id="1" name=""/>
        <p:cNvGrpSpPr/>
        <p:nvPr/>
      </p:nvGrpSpPr>
      <p:grpSpPr>
        <a:xfrm>
          <a:off x="0" y="0"/>
          <a:ext cx="0" cy="0"/>
          <a:chOff x="0" y="0"/>
          <a:chExt cx="0" cy="0"/>
        </a:xfrm>
      </p:grpSpPr>
      <p:sp>
        <p:nvSpPr>
          <p:cNvPr id="2" name="Shape 0"/>
          <p:cNvSpPr/>
          <p:nvPr/>
        </p:nvSpPr>
        <p:spPr>
          <a:xfrm>
            <a:off x="0" y="0"/>
            <a:ext cx="292608" cy="6858000"/>
          </a:xfrm>
          <a:prstGeom prst="rect">
            <a:avLst/>
          </a:prstGeom>
          <a:solidFill>
            <a:srgbClr val="3C4E6B"/>
          </a:solidFill>
          <a:ln/>
        </p:spPr>
        <p:txBody>
          <a:bodyPr/>
          <a:lstStyle/>
          <a:p>
            <a:endParaRPr lang="en-US"/>
          </a:p>
        </p:txBody>
      </p:sp>
      <p:sp>
        <p:nvSpPr>
          <p:cNvPr id="3" name="Shape 1"/>
          <p:cNvSpPr/>
          <p:nvPr/>
        </p:nvSpPr>
        <p:spPr>
          <a:xfrm>
            <a:off x="292608" y="0"/>
            <a:ext cx="73152" cy="6858000"/>
          </a:xfrm>
          <a:prstGeom prst="rect">
            <a:avLst/>
          </a:prstGeom>
          <a:solidFill>
            <a:srgbClr val="5A6E88"/>
          </a:solidFill>
          <a:ln/>
        </p:spPr>
        <p:txBody>
          <a:bodyPr/>
          <a:lstStyle/>
          <a:p>
            <a:endParaRPr lang="en-US"/>
          </a:p>
        </p:txBody>
      </p:sp>
      <p:sp>
        <p:nvSpPr>
          <p:cNvPr id="4" name="Text 2"/>
          <p:cNvSpPr/>
          <p:nvPr/>
        </p:nvSpPr>
        <p:spPr>
          <a:xfrm>
            <a:off x="914400" y="685800"/>
            <a:ext cx="9144000" cy="365760"/>
          </a:xfrm>
          <a:prstGeom prst="rect">
            <a:avLst/>
          </a:prstGeom>
          <a:noFill/>
          <a:ln/>
        </p:spPr>
        <p:txBody>
          <a:bodyPr wrap="square" rtlCol="0" anchor="ctr"/>
          <a:lstStyle/>
          <a:p>
            <a:pPr marL="0" indent="0">
              <a:buNone/>
            </a:pPr>
            <a:r>
              <a:rPr lang="en-US" sz="1300" b="1" kern="0" spc="400">
                <a:solidFill>
                  <a:srgbClr val="C9D6E8"/>
                </a:solidFill>
                <a:latin typeface="Calibri" pitchFamily="34" charset="0"/>
                <a:ea typeface="Calibri" pitchFamily="34" charset="-122"/>
                <a:cs typeface="Calibri" pitchFamily="34" charset="-120"/>
              </a:rPr>
              <a:t>IMPLEMENTATION PLAN</a:t>
            </a:r>
            <a:endParaRPr lang="en-US" sz="1300" dirty="0"/>
          </a:p>
        </p:txBody>
      </p:sp>
      <p:sp>
        <p:nvSpPr>
          <p:cNvPr id="5" name="Text 3"/>
          <p:cNvSpPr/>
          <p:nvPr/>
        </p:nvSpPr>
        <p:spPr>
          <a:xfrm>
            <a:off x="868680" y="1051560"/>
            <a:ext cx="1042416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From findings to a monitored action plan</a:t>
            </a:r>
            <a:endParaRPr lang="en-US" sz="3000" dirty="0"/>
          </a:p>
        </p:txBody>
      </p:sp>
      <p:sp>
        <p:nvSpPr>
          <p:cNvPr id="6" name="Shape 4"/>
          <p:cNvSpPr/>
          <p:nvPr/>
        </p:nvSpPr>
        <p:spPr>
          <a:xfrm>
            <a:off x="914400" y="1965960"/>
            <a:ext cx="603504" cy="603504"/>
          </a:xfrm>
          <a:prstGeom prst="ellipse">
            <a:avLst/>
          </a:prstGeom>
          <a:solidFill>
            <a:srgbClr val="1E2E4A"/>
          </a:solidFill>
          <a:ln w="19050">
            <a:solidFill>
              <a:srgbClr val="5A6E88"/>
            </a:solidFill>
            <a:prstDash val="solid"/>
          </a:ln>
        </p:spPr>
        <p:txBody>
          <a:bodyPr/>
          <a:lstStyle/>
          <a:p>
            <a:endParaRPr lang="en-US"/>
          </a:p>
        </p:txBody>
      </p:sp>
      <p:sp>
        <p:nvSpPr>
          <p:cNvPr id="7" name="Text 5"/>
          <p:cNvSpPr/>
          <p:nvPr/>
        </p:nvSpPr>
        <p:spPr>
          <a:xfrm>
            <a:off x="914400" y="1965960"/>
            <a:ext cx="603504" cy="603504"/>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8" name="Text 6"/>
          <p:cNvSpPr/>
          <p:nvPr/>
        </p:nvSpPr>
        <p:spPr>
          <a:xfrm>
            <a:off x="1783080" y="1911096"/>
            <a:ext cx="9509760" cy="777240"/>
          </a:xfrm>
          <a:prstGeom prst="rect">
            <a:avLst/>
          </a:prstGeom>
          <a:noFill/>
          <a:ln/>
        </p:spPr>
        <p:txBody>
          <a:bodyPr wrap="square" rtlCol="0" anchor="ctr"/>
          <a:lstStyle/>
          <a:p>
            <a:pPr marL="0" indent="0">
              <a:lnSpc>
                <a:spcPts val="1500"/>
              </a:lnSpc>
              <a:buNone/>
            </a:pPr>
            <a:r>
              <a:rPr lang="en-US" sz="1600" b="1" dirty="0">
                <a:solidFill>
                  <a:srgbClr val="FFFFFF"/>
                </a:solidFill>
                <a:latin typeface="Calibri" pitchFamily="34" charset="0"/>
                <a:ea typeface="Calibri" pitchFamily="34" charset="-122"/>
                <a:cs typeface="Calibri" pitchFamily="34" charset="-120"/>
              </a:rPr>
              <a:t>Map component criticality
</a:t>
            </a:r>
            <a:r>
              <a:rPr lang="en-US" sz="1200" dirty="0">
                <a:solidFill>
                  <a:srgbClr val="C9D6E8"/>
                </a:solidFill>
                <a:latin typeface="Calibri" pitchFamily="34" charset="0"/>
                <a:ea typeface="Calibri" pitchFamily="34" charset="-122"/>
                <a:cs typeface="Calibri" pitchFamily="34" charset="-120"/>
              </a:rPr>
              <a:t>Link CARB123, BIND567, and COAT890 to production dependency and compliance impact.</a:t>
            </a:r>
            <a:endParaRPr lang="en-US" sz="1600" dirty="0"/>
          </a:p>
        </p:txBody>
      </p:sp>
      <p:sp>
        <p:nvSpPr>
          <p:cNvPr id="9" name="Shape 7"/>
          <p:cNvSpPr/>
          <p:nvPr/>
        </p:nvSpPr>
        <p:spPr>
          <a:xfrm>
            <a:off x="914400" y="2862072"/>
            <a:ext cx="603504" cy="603504"/>
          </a:xfrm>
          <a:prstGeom prst="ellipse">
            <a:avLst/>
          </a:prstGeom>
          <a:solidFill>
            <a:srgbClr val="1E2E4A"/>
          </a:solidFill>
          <a:ln w="19050">
            <a:solidFill>
              <a:srgbClr val="5A6E88"/>
            </a:solidFill>
            <a:prstDash val="solid"/>
          </a:ln>
        </p:spPr>
        <p:txBody>
          <a:bodyPr/>
          <a:lstStyle/>
          <a:p>
            <a:endParaRPr lang="en-US"/>
          </a:p>
        </p:txBody>
      </p:sp>
      <p:sp>
        <p:nvSpPr>
          <p:cNvPr id="10" name="Text 8"/>
          <p:cNvSpPr/>
          <p:nvPr/>
        </p:nvSpPr>
        <p:spPr>
          <a:xfrm>
            <a:off x="914400" y="2862072"/>
            <a:ext cx="603504" cy="603504"/>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1" name="Text 9"/>
          <p:cNvSpPr/>
          <p:nvPr/>
        </p:nvSpPr>
        <p:spPr>
          <a:xfrm>
            <a:off x="1783080" y="2807208"/>
            <a:ext cx="9509760" cy="777240"/>
          </a:xfrm>
          <a:prstGeom prst="rect">
            <a:avLst/>
          </a:prstGeom>
          <a:noFill/>
          <a:ln/>
        </p:spPr>
        <p:txBody>
          <a:bodyPr wrap="square" rtlCol="0" anchor="ctr"/>
          <a:lstStyle/>
          <a:p>
            <a:pPr marL="0" indent="0">
              <a:lnSpc>
                <a:spcPts val="1500"/>
              </a:lnSpc>
              <a:buNone/>
            </a:pPr>
            <a:r>
              <a:rPr lang="en-US" sz="1600" b="1" dirty="0">
                <a:solidFill>
                  <a:srgbClr val="FFFFFF"/>
                </a:solidFill>
                <a:latin typeface="Calibri" pitchFamily="34" charset="0"/>
                <a:ea typeface="Calibri" pitchFamily="34" charset="-122"/>
                <a:cs typeface="Calibri" pitchFamily="34" charset="-120"/>
              </a:rPr>
              <a:t>Run supplier deep dives
</a:t>
            </a:r>
            <a:r>
              <a:rPr lang="en-US" sz="1200" dirty="0">
                <a:solidFill>
                  <a:srgbClr val="C9D6E8"/>
                </a:solidFill>
                <a:latin typeface="Calibri" pitchFamily="34" charset="0"/>
                <a:ea typeface="Calibri" pitchFamily="34" charset="-122"/>
                <a:cs typeface="Calibri" pitchFamily="34" charset="-120"/>
              </a:rPr>
              <a:t>Assess EcoSupply, PrimeLogistics, GlobalChem, RawMatPlus, and NextGen Pharma on on-time, reliability, defect, and quality trends.</a:t>
            </a:r>
            <a:endParaRPr lang="en-US" sz="1600" dirty="0"/>
          </a:p>
        </p:txBody>
      </p:sp>
      <p:sp>
        <p:nvSpPr>
          <p:cNvPr id="12" name="Shape 10"/>
          <p:cNvSpPr/>
          <p:nvPr/>
        </p:nvSpPr>
        <p:spPr>
          <a:xfrm>
            <a:off x="914400" y="3758184"/>
            <a:ext cx="603504" cy="603504"/>
          </a:xfrm>
          <a:prstGeom prst="ellipse">
            <a:avLst/>
          </a:prstGeom>
          <a:solidFill>
            <a:srgbClr val="1E2E4A"/>
          </a:solidFill>
          <a:ln w="19050">
            <a:solidFill>
              <a:srgbClr val="5A6E88"/>
            </a:solidFill>
            <a:prstDash val="solid"/>
          </a:ln>
        </p:spPr>
        <p:txBody>
          <a:bodyPr/>
          <a:lstStyle/>
          <a:p>
            <a:endParaRPr lang="en-US"/>
          </a:p>
        </p:txBody>
      </p:sp>
      <p:sp>
        <p:nvSpPr>
          <p:cNvPr id="13" name="Text 11"/>
          <p:cNvSpPr/>
          <p:nvPr/>
        </p:nvSpPr>
        <p:spPr>
          <a:xfrm>
            <a:off x="914400" y="3758184"/>
            <a:ext cx="603504" cy="603504"/>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4" name="Text 12"/>
          <p:cNvSpPr/>
          <p:nvPr/>
        </p:nvSpPr>
        <p:spPr>
          <a:xfrm>
            <a:off x="1783080" y="3703320"/>
            <a:ext cx="9509760" cy="777240"/>
          </a:xfrm>
          <a:prstGeom prst="rect">
            <a:avLst/>
          </a:prstGeom>
          <a:noFill/>
          <a:ln/>
        </p:spPr>
        <p:txBody>
          <a:bodyPr wrap="square" rtlCol="0" anchor="ctr"/>
          <a:lstStyle/>
          <a:p>
            <a:pPr marL="0" indent="0">
              <a:lnSpc>
                <a:spcPts val="1500"/>
              </a:lnSpc>
              <a:buNone/>
            </a:pPr>
            <a:r>
              <a:rPr lang="en-US" sz="1600" b="1" dirty="0">
                <a:solidFill>
                  <a:srgbClr val="FFFFFF"/>
                </a:solidFill>
                <a:latin typeface="Calibri" pitchFamily="34" charset="0"/>
                <a:ea typeface="Calibri" pitchFamily="34" charset="-122"/>
                <a:cs typeface="Calibri" pitchFamily="34" charset="-120"/>
              </a:rPr>
              <a:t>Refresh inventory assumptions
</a:t>
            </a:r>
            <a:r>
              <a:rPr lang="en-US" sz="1200" dirty="0">
                <a:solidFill>
                  <a:srgbClr val="C9D6E8"/>
                </a:solidFill>
                <a:latin typeface="Calibri" pitchFamily="34" charset="0"/>
                <a:ea typeface="Calibri" pitchFamily="34" charset="-122"/>
                <a:cs typeface="Calibri" pitchFamily="34" charset="-120"/>
              </a:rPr>
              <a:t>Update reorder points and safety stock for components with high usage, backorders, or lead-time variance.</a:t>
            </a:r>
            <a:endParaRPr lang="en-US" sz="1600" dirty="0"/>
          </a:p>
        </p:txBody>
      </p:sp>
      <p:sp>
        <p:nvSpPr>
          <p:cNvPr id="15" name="Shape 13"/>
          <p:cNvSpPr/>
          <p:nvPr/>
        </p:nvSpPr>
        <p:spPr>
          <a:xfrm>
            <a:off x="914400" y="4654296"/>
            <a:ext cx="603504" cy="603504"/>
          </a:xfrm>
          <a:prstGeom prst="ellipse">
            <a:avLst/>
          </a:prstGeom>
          <a:solidFill>
            <a:srgbClr val="1E2E4A"/>
          </a:solidFill>
          <a:ln w="19050">
            <a:solidFill>
              <a:srgbClr val="5A6E88"/>
            </a:solidFill>
            <a:prstDash val="solid"/>
          </a:ln>
        </p:spPr>
        <p:txBody>
          <a:bodyPr/>
          <a:lstStyle/>
          <a:p>
            <a:endParaRPr lang="en-US"/>
          </a:p>
        </p:txBody>
      </p:sp>
      <p:sp>
        <p:nvSpPr>
          <p:cNvPr id="16" name="Text 14"/>
          <p:cNvSpPr/>
          <p:nvPr/>
        </p:nvSpPr>
        <p:spPr>
          <a:xfrm>
            <a:off x="914400" y="4654296"/>
            <a:ext cx="603504" cy="603504"/>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17" name="Text 15"/>
          <p:cNvSpPr/>
          <p:nvPr/>
        </p:nvSpPr>
        <p:spPr>
          <a:xfrm>
            <a:off x="1783080" y="4599432"/>
            <a:ext cx="9509760" cy="777240"/>
          </a:xfrm>
          <a:prstGeom prst="rect">
            <a:avLst/>
          </a:prstGeom>
          <a:noFill/>
          <a:ln/>
        </p:spPr>
        <p:txBody>
          <a:bodyPr wrap="square" rtlCol="0" anchor="ctr"/>
          <a:lstStyle/>
          <a:p>
            <a:pPr marL="0" indent="0">
              <a:lnSpc>
                <a:spcPts val="1500"/>
              </a:lnSpc>
              <a:buNone/>
            </a:pPr>
            <a:r>
              <a:rPr lang="en-US" sz="1600" b="1" dirty="0">
                <a:solidFill>
                  <a:srgbClr val="FFFFFF"/>
                </a:solidFill>
                <a:latin typeface="Calibri" pitchFamily="34" charset="0"/>
                <a:ea typeface="Calibri" pitchFamily="34" charset="-122"/>
                <a:cs typeface="Calibri" pitchFamily="34" charset="-120"/>
              </a:rPr>
              <a:t>Define escalation triggers
</a:t>
            </a:r>
            <a:r>
              <a:rPr lang="en-US" sz="1200" dirty="0">
                <a:solidFill>
                  <a:srgbClr val="C9D6E8"/>
                </a:solidFill>
                <a:latin typeface="Calibri" pitchFamily="34" charset="0"/>
                <a:ea typeface="Calibri" pitchFamily="34" charset="-122"/>
                <a:cs typeface="Calibri" pitchFamily="34" charset="-120"/>
              </a:rPr>
              <a:t>Set thresholds for timeline outliers, quality-pass declines, and recurring backorder volume.</a:t>
            </a:r>
            <a:endParaRPr lang="en-US" sz="1600" dirty="0"/>
          </a:p>
        </p:txBody>
      </p:sp>
      <p:sp>
        <p:nvSpPr>
          <p:cNvPr id="18" name="Shape 16"/>
          <p:cNvSpPr/>
          <p:nvPr/>
        </p:nvSpPr>
        <p:spPr>
          <a:xfrm>
            <a:off x="914400" y="5550408"/>
            <a:ext cx="603504" cy="603504"/>
          </a:xfrm>
          <a:prstGeom prst="ellipse">
            <a:avLst/>
          </a:prstGeom>
          <a:solidFill>
            <a:srgbClr val="1E2E4A"/>
          </a:solidFill>
          <a:ln w="19050">
            <a:solidFill>
              <a:srgbClr val="5A6E88"/>
            </a:solidFill>
            <a:prstDash val="solid"/>
          </a:ln>
        </p:spPr>
        <p:txBody>
          <a:bodyPr/>
          <a:lstStyle/>
          <a:p>
            <a:endParaRPr lang="en-US"/>
          </a:p>
        </p:txBody>
      </p:sp>
      <p:sp>
        <p:nvSpPr>
          <p:cNvPr id="19" name="Text 17"/>
          <p:cNvSpPr/>
          <p:nvPr/>
        </p:nvSpPr>
        <p:spPr>
          <a:xfrm>
            <a:off x="914400" y="5550408"/>
            <a:ext cx="603504" cy="603504"/>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20" name="Text 18"/>
          <p:cNvSpPr/>
          <p:nvPr/>
        </p:nvSpPr>
        <p:spPr>
          <a:xfrm>
            <a:off x="1783080" y="5495544"/>
            <a:ext cx="9509760" cy="777240"/>
          </a:xfrm>
          <a:prstGeom prst="rect">
            <a:avLst/>
          </a:prstGeom>
          <a:noFill/>
          <a:ln/>
        </p:spPr>
        <p:txBody>
          <a:bodyPr wrap="square" rtlCol="0" anchor="ctr"/>
          <a:lstStyle/>
          <a:p>
            <a:pPr marL="0" indent="0">
              <a:lnSpc>
                <a:spcPts val="1500"/>
              </a:lnSpc>
              <a:buNone/>
            </a:pPr>
            <a:r>
              <a:rPr lang="en-US" sz="1600" b="1" dirty="0">
                <a:solidFill>
                  <a:srgbClr val="FFFFFF"/>
                </a:solidFill>
                <a:latin typeface="Calibri" pitchFamily="34" charset="0"/>
                <a:ea typeface="Calibri" pitchFamily="34" charset="-122"/>
                <a:cs typeface="Calibri" pitchFamily="34" charset="-120"/>
              </a:rPr>
              <a:t>Establish a monthly review
</a:t>
            </a:r>
            <a:r>
              <a:rPr lang="en-US" sz="1200" dirty="0">
                <a:solidFill>
                  <a:srgbClr val="C9D6E8"/>
                </a:solidFill>
                <a:latin typeface="Calibri" pitchFamily="34" charset="0"/>
                <a:ea typeface="Calibri" pitchFamily="34" charset="-122"/>
                <a:cs typeface="Calibri" pitchFamily="34" charset="-120"/>
              </a:rPr>
              <a:t>Track whether mitigation reduces delays, quality issues, and compliance exposure.</a:t>
            </a:r>
            <a:endParaRPr lang="en-US" sz="1600" dirty="0"/>
          </a:p>
        </p:txBody>
      </p:sp>
      <p:sp>
        <p:nvSpPr>
          <p:cNvPr id="21" name="Text 19"/>
          <p:cNvSpPr/>
          <p:nvPr/>
        </p:nvSpPr>
        <p:spPr>
          <a:xfrm>
            <a:off x="502920" y="6455664"/>
            <a:ext cx="6400800" cy="274320"/>
          </a:xfrm>
          <a:prstGeom prst="rect">
            <a:avLst/>
          </a:prstGeom>
          <a:noFill/>
          <a:ln/>
        </p:spPr>
        <p:txBody>
          <a:bodyPr wrap="square" rtlCol="0" anchor="ctr"/>
          <a:lstStyle/>
          <a:p>
            <a:pPr marL="0" indent="0">
              <a:buNone/>
            </a:pPr>
            <a:r>
              <a:rPr lang="en-US" sz="850" dirty="0">
                <a:solidFill>
                  <a:srgbClr val="5C6675"/>
                </a:solidFill>
                <a:latin typeface="Calibri" pitchFamily="34" charset="0"/>
                <a:ea typeface="Calibri" pitchFamily="34" charset="-122"/>
                <a:cs typeface="Calibri" pitchFamily="34" charset="-120"/>
              </a:rPr>
              <a:t>Supply Chain Issue Compliance Report</a:t>
            </a:r>
            <a:endParaRPr lang="en-US" sz="850" dirty="0"/>
          </a:p>
        </p:txBody>
      </p:sp>
      <p:sp>
        <p:nvSpPr>
          <p:cNvPr id="22" name="Text 20"/>
          <p:cNvSpPr/>
          <p:nvPr/>
        </p:nvSpPr>
        <p:spPr>
          <a:xfrm>
            <a:off x="5486400" y="6455664"/>
            <a:ext cx="4846320" cy="274320"/>
          </a:xfrm>
          <a:prstGeom prst="rect">
            <a:avLst/>
          </a:prstGeom>
          <a:noFill/>
          <a:ln/>
        </p:spPr>
        <p:txBody>
          <a:bodyPr wrap="square" rtlCol="0" anchor="ctr"/>
          <a:lstStyle/>
          <a:p>
            <a:pPr marL="0" indent="0" algn="r">
              <a:buNone/>
            </a:pPr>
            <a:r>
              <a:rPr lang="en-US" sz="850" dirty="0">
                <a:solidFill>
                  <a:srgbClr val="5C6675"/>
                </a:solidFill>
                <a:latin typeface="Calibri" pitchFamily="34" charset="0"/>
                <a:ea typeface="Calibri" pitchFamily="34" charset="-122"/>
                <a:cs typeface="Calibri" pitchFamily="34" charset="-120"/>
              </a:rPr>
              <a:t>50 component records  ·  5 suppliers  ·  July 2026</a:t>
            </a:r>
            <a:endParaRPr lang="en-US" sz="850" dirty="0"/>
          </a:p>
        </p:txBody>
      </p:sp>
      <p:sp>
        <p:nvSpPr>
          <p:cNvPr id="23" name="Text 21"/>
          <p:cNvSpPr/>
          <p:nvPr/>
        </p:nvSpPr>
        <p:spPr>
          <a:xfrm>
            <a:off x="11475720" y="6419088"/>
            <a:ext cx="365760" cy="292608"/>
          </a:xfrm>
          <a:prstGeom prst="rect">
            <a:avLst/>
          </a:prstGeom>
          <a:noFill/>
          <a:ln/>
        </p:spPr>
        <p:txBody>
          <a:bodyPr wrap="square" rtlCol="0" anchor="ctr"/>
          <a:lstStyle/>
          <a:p>
            <a:pPr marL="0" indent="0" algn="r">
              <a:buNone/>
            </a:pPr>
            <a:r>
              <a:rPr lang="en-US" sz="900" b="1" dirty="0">
                <a:solidFill>
                  <a:srgbClr val="5A6E8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ca48ea3-8c75-4d36-b64f-70604b11fd22}" enabled="1" method="Standard" siteId="{3ac94b33-9135-4821-9502-eafda6592a35}" contentBits="0" removed="0"/>
</clbl:labelList>
</file>

<file path=docProps/app.xml><?xml version="1.0" encoding="utf-8"?>
<Properties xmlns="http://schemas.openxmlformats.org/officeDocument/2006/extended-properties" xmlns:vt="http://schemas.openxmlformats.org/officeDocument/2006/docPropsVTypes">
  <TotalTime>1128</TotalTime>
  <Words>1684</Words>
  <Application>Microsoft Office PowerPoint</Application>
  <PresentationFormat>Widescreen</PresentationFormat>
  <Paragraphs>168</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JNJ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Abouganba, Aisha [JJCUS]</dc:creator>
  <cp:lastModifiedBy>Abouganba, Aisha [JJCUS]</cp:lastModifiedBy>
  <cp:revision>1</cp:revision>
  <dcterms:created xsi:type="dcterms:W3CDTF">2026-07-07T20:34:35Z</dcterms:created>
  <dcterms:modified xsi:type="dcterms:W3CDTF">2026-07-08T15:25:09Z</dcterms:modified>
</cp:coreProperties>
</file>